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94" r:id="rId3"/>
    <p:sldId id="29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96" r:id="rId13"/>
    <p:sldId id="297" r:id="rId14"/>
    <p:sldId id="299" r:id="rId15"/>
    <p:sldId id="309" r:id="rId16"/>
    <p:sldId id="298" r:id="rId17"/>
    <p:sldId id="301" r:id="rId18"/>
    <p:sldId id="302" r:id="rId19"/>
    <p:sldId id="303" r:id="rId20"/>
    <p:sldId id="279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93" r:id="rId30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0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5E12B-9F88-4C85-9E36-FA181699E9F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25966-29AD-418D-944D-153C83FBE22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83877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There</a:t>
            </a:r>
            <a:r>
              <a:rPr lang="en-US" baseline="0" dirty="0" smtClean="0"/>
              <a:t> are many problems….. </a:t>
            </a:r>
            <a:r>
              <a:rPr lang="en-US" dirty="0" smtClean="0"/>
              <a:t>The effectiveness/ability of</a:t>
            </a:r>
            <a:r>
              <a:rPr lang="en-US" baseline="0" dirty="0" smtClean="0"/>
              <a:t> collaboration to solve these problems varies, a lot.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2EF7B-9CAD-41CC-B8EC-27B0EA36A953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9712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Actors: this can provide insights into motives, intentions</a:t>
            </a:r>
            <a:r>
              <a:rPr lang="en-US" baseline="0" dirty="0" smtClean="0"/>
              <a:t> – but also what possibilities and constraints their position inflict on them</a:t>
            </a:r>
          </a:p>
          <a:p>
            <a:r>
              <a:rPr lang="en-US" baseline="0" dirty="0" smtClean="0"/>
              <a:t>Group: the groups social structure – constraints, a window to peek into processes 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2EF7B-9CAD-41CC-B8EC-27B0EA36A953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2906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785C7D-AC1B-4F79-81D8-E0A5FE899CE4}" type="slidenum">
              <a:rPr lang="en-US" altLang="sv-SE" smtClean="0"/>
              <a:pPr>
                <a:spcBef>
                  <a:spcPct val="0"/>
                </a:spcBef>
              </a:pPr>
              <a:t>9</a:t>
            </a:fld>
            <a:endParaRPr lang="en-US" altLang="sv-SE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292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43648E7-75E1-4812-A7A4-D1EF7EC972DA}" type="slidenum">
              <a:rPr lang="en-US" altLang="sv-SE" smtClean="0"/>
              <a:pPr>
                <a:spcBef>
                  <a:spcPct val="0"/>
                </a:spcBef>
              </a:pPr>
              <a:t>11</a:t>
            </a:fld>
            <a:endParaRPr lang="en-US" altLang="sv-SE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046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385E220-851A-44CD-A5FB-61312BE9E67C}" type="slidenum">
              <a:rPr lang="en-US" altLang="sv-SE" smtClean="0"/>
              <a:pPr>
                <a:spcBef>
                  <a:spcPct val="0"/>
                </a:spcBef>
              </a:pPr>
              <a:t>27</a:t>
            </a:fld>
            <a:endParaRPr lang="en-US" altLang="sv-SE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245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1711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870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4157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50765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1982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8765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7379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279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29755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4582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7488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1649F-20DB-4EA1-B98C-CB79A4A64F5D}" type="slidenum">
              <a:rPr lang="en-US" altLang="sv-SE"/>
              <a:pPr>
                <a:defRPr/>
              </a:pPr>
              <a:t>‹#›</a:t>
            </a:fld>
            <a:endParaRPr lang="en-US" altLang="sv-SE"/>
          </a:p>
        </p:txBody>
      </p:sp>
    </p:spTree>
    <p:extLst>
      <p:ext uri="{BB962C8B-B14F-4D97-AF65-F5344CB8AC3E}">
        <p14:creationId xmlns:p14="http://schemas.microsoft.com/office/powerpoint/2010/main" val="106911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56183-B858-4CB2-957A-B9204F49D50A}" type="datetimeFigureOut">
              <a:rPr lang="sv-SE" smtClean="0"/>
              <a:t>2022-06-14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9A632-E99C-41A2-BB19-652385CF75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2089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ockholmresilience.org/research/modelling-and-visualisation-lab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1521637" y="5776333"/>
            <a:ext cx="9144000" cy="0"/>
          </a:xfrm>
          <a:prstGeom prst="line">
            <a:avLst/>
          </a:prstGeom>
          <a:ln>
            <a:solidFill>
              <a:srgbClr val="ED55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ubrik 26"/>
          <p:cNvSpPr>
            <a:spLocks noGrp="1"/>
          </p:cNvSpPr>
          <p:nvPr>
            <p:ph type="ctrTitle"/>
          </p:nvPr>
        </p:nvSpPr>
        <p:spPr>
          <a:xfrm>
            <a:off x="2209800" y="180022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Workshop: Social-Ecological Network Analysis</a:t>
            </a:r>
            <a:br>
              <a:rPr lang="en-US" dirty="0" smtClean="0"/>
            </a:br>
            <a:endParaRPr lang="sv-SE" sz="3100" i="1" dirty="0"/>
          </a:p>
        </p:txBody>
      </p:sp>
      <p:sp>
        <p:nvSpPr>
          <p:cNvPr id="28" name="Underrubrik 27"/>
          <p:cNvSpPr>
            <a:spLocks noGrp="1"/>
          </p:cNvSpPr>
          <p:nvPr>
            <p:ph type="subTitle" idx="1"/>
          </p:nvPr>
        </p:nvSpPr>
        <p:spPr>
          <a:xfrm>
            <a:off x="2926296" y="4674658"/>
            <a:ext cx="6400800" cy="1752600"/>
          </a:xfrm>
        </p:spPr>
        <p:txBody>
          <a:bodyPr/>
          <a:lstStyle/>
          <a:p>
            <a:r>
              <a:rPr lang="en-US" dirty="0" smtClean="0"/>
              <a:t>Örjan Bodin, Lorien Jasny</a:t>
            </a:r>
            <a:endParaRPr lang="sv-SE" dirty="0"/>
          </a:p>
        </p:txBody>
      </p:sp>
      <p:grpSp>
        <p:nvGrpSpPr>
          <p:cNvPr id="3" name="Grupp 2"/>
          <p:cNvGrpSpPr/>
          <p:nvPr/>
        </p:nvGrpSpPr>
        <p:grpSpPr>
          <a:xfrm>
            <a:off x="1231902" y="5638801"/>
            <a:ext cx="9386041" cy="1433360"/>
            <a:chOff x="-292099" y="5638801"/>
            <a:chExt cx="9386041" cy="1433360"/>
          </a:xfrm>
        </p:grpSpPr>
        <p:pic>
          <p:nvPicPr>
            <p:cNvPr id="21" name="Bildobjekt 2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92099" y="5638801"/>
              <a:ext cx="4289985" cy="1433360"/>
            </a:xfrm>
            <a:prstGeom prst="rect">
              <a:avLst/>
            </a:prstGeom>
          </p:spPr>
        </p:pic>
        <p:pic>
          <p:nvPicPr>
            <p:cNvPr id="19" name="Bildobjekt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4450" y="6054890"/>
              <a:ext cx="2759492" cy="738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190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7309" y="1528450"/>
            <a:ext cx="6096000" cy="51533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Block 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network thinking and network analysis 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 network thinking in the environmental domain. 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as an independent and dependent variable, what are the objectives of the research? What are the assumptions?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Statistical difficulties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Exercises – basic network analysis. 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Block 2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social-ecological networks 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ecological network based on fragmented forest patches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Social-ecological networks, bring humans and nature together. 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But, what are nodes and links? How to measure/assess them?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 – build a social-ecological network 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LUNCH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12:30-13:30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681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496356"/>
            <a:ext cx="6096000" cy="38652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Block 3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analyze social-ecological networks</a:t>
            </a:r>
            <a:endParaRPr lang="sv-SE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how to analyze social-ecological networks? How to make sense of them?</a:t>
            </a:r>
            <a:endParaRPr lang="sv-SE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Building blocks (motifs) – with examples </a:t>
            </a:r>
            <a:endParaRPr lang="sv-SE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Interpretations of building blocks (theory and structure)</a:t>
            </a:r>
            <a:endParaRPr lang="sv-SE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 – Analyzing social-ecological networks</a:t>
            </a:r>
            <a:endParaRPr lang="sv-SE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Block 4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more advanced analyses </a:t>
            </a:r>
            <a:endParaRPr lang="sv-SE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Getting into ERGM – basic intro, the principles, the benefits</a:t>
            </a:r>
            <a:endParaRPr lang="sv-SE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Multilevel ERGM – for social-ecological network</a:t>
            </a:r>
            <a:endParaRPr lang="sv-SE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Issues and ways forward</a:t>
            </a:r>
            <a:endParaRPr lang="sv-SE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 – Multilevel ERGM</a:t>
            </a: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8067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</a:t>
            </a:r>
            <a:r>
              <a:rPr lang="en-SE" dirty="0" smtClean="0"/>
              <a:t>oftware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 with ‘</a:t>
            </a:r>
            <a:r>
              <a:rPr lang="en-US" dirty="0" err="1" smtClean="0"/>
              <a:t>statnet</a:t>
            </a:r>
            <a:r>
              <a:rPr lang="en-US" dirty="0" smtClean="0"/>
              <a:t>’ package</a:t>
            </a:r>
          </a:p>
          <a:p>
            <a:r>
              <a:rPr lang="en-US" dirty="0" smtClean="0"/>
              <a:t>Java (check if you have it by typing ‘java </a:t>
            </a:r>
            <a:r>
              <a:rPr lang="en-SE" dirty="0" smtClean="0"/>
              <a:t>–</a:t>
            </a:r>
            <a:r>
              <a:rPr lang="en-US" dirty="0" smtClean="0"/>
              <a:t>version’ at the command prompt)</a:t>
            </a:r>
          </a:p>
          <a:p>
            <a:r>
              <a:rPr lang="en-US" dirty="0" err="1" smtClean="0"/>
              <a:t>SENAnalyzer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>
                <a:hlinkClick r:id="rId2"/>
              </a:rPr>
              <a:t>https://www.stockholmresilience.org/research/modelling-and-visualisation-lab.html</a:t>
            </a:r>
            <a:endParaRPr lang="en-US" dirty="0" smtClean="0"/>
          </a:p>
          <a:p>
            <a:pPr lvl="1"/>
            <a:r>
              <a:rPr lang="en-US" dirty="0" smtClean="0"/>
              <a:t>In </a:t>
            </a:r>
            <a:r>
              <a:rPr lang="en-US" smtClean="0"/>
              <a:t>workshop </a:t>
            </a:r>
            <a:r>
              <a:rPr lang="en-US" smtClean="0"/>
              <a:t>package</a:t>
            </a:r>
            <a:endParaRPr lang="en-SE" dirty="0" smtClean="0"/>
          </a:p>
        </p:txBody>
      </p:sp>
    </p:spTree>
    <p:extLst>
      <p:ext uri="{BB962C8B-B14F-4D97-AF65-F5344CB8AC3E}">
        <p14:creationId xmlns:p14="http://schemas.microsoft.com/office/powerpoint/2010/main" val="401096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535114"/>
            <a:ext cx="5447510" cy="43989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02880" y="6340789"/>
            <a:ext cx="24898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Cumming 2017, Conservation Letters</a:t>
            </a:r>
            <a:endParaRPr lang="sv-SE" sz="1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Sustainability challenges</a:t>
            </a:r>
            <a:endParaRPr lang="sv-SE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971511" y="1982810"/>
            <a:ext cx="3471333" cy="3951288"/>
          </a:xfrm>
        </p:spPr>
        <p:txBody>
          <a:bodyPr/>
          <a:lstStyle/>
          <a:p>
            <a:r>
              <a:rPr lang="en-US" dirty="0"/>
              <a:t>Many different kinds of governance challenges</a:t>
            </a:r>
          </a:p>
          <a:p>
            <a:r>
              <a:rPr lang="en-US" dirty="0"/>
              <a:t>Individual- </a:t>
            </a:r>
            <a:r>
              <a:rPr lang="en-US" i="1" dirty="0"/>
              <a:t>and</a:t>
            </a:r>
            <a:r>
              <a:rPr lang="en-US" dirty="0"/>
              <a:t> group-level outcomes, not always aligned</a:t>
            </a:r>
          </a:p>
          <a:p>
            <a:r>
              <a:rPr lang="en-US" b="1" dirty="0"/>
              <a:t>Collaboration is </a:t>
            </a:r>
            <a:r>
              <a:rPr lang="en-US" b="1" i="1" dirty="0" smtClean="0"/>
              <a:t>the</a:t>
            </a:r>
            <a:r>
              <a:rPr lang="en-US" b="1" dirty="0" smtClean="0"/>
              <a:t> solution(?)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4123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Some success stories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562333"/>
            <a:ext cx="7772400" cy="4796134"/>
          </a:xfrm>
        </p:spPr>
        <p:txBody>
          <a:bodyPr>
            <a:normAutofit/>
          </a:bodyPr>
          <a:lstStyle/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822" y="2078462"/>
            <a:ext cx="3337455" cy="188193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530" y="4387002"/>
            <a:ext cx="3903133" cy="171899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148" y="1335821"/>
            <a:ext cx="4830653" cy="151499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9653" y="3003444"/>
            <a:ext cx="4192059" cy="192977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060673"/>
            <a:ext cx="4092548" cy="16891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159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Just striving for collaboration does not fix it all…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55623"/>
            <a:ext cx="4629150" cy="204431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251" y="4623330"/>
            <a:ext cx="5473171" cy="198271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780" y="2901157"/>
            <a:ext cx="4281752" cy="159755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328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981200" y="74569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If/when/why is collaboration leading to desirable outcomes? </a:t>
            </a:r>
            <a:r>
              <a:rPr lang="en-SE" dirty="0" smtClean="0"/>
              <a:t>–</a:t>
            </a:r>
            <a:r>
              <a:rPr lang="en-US" dirty="0" smtClean="0"/>
              <a:t> A </a:t>
            </a:r>
            <a:r>
              <a:rPr lang="en-US" b="1" i="1" dirty="0" smtClean="0"/>
              <a:t>network perspective</a:t>
            </a:r>
            <a:endParaRPr lang="sv-SE" b="1" i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981200" y="2687637"/>
            <a:ext cx="8229600" cy="4170363"/>
          </a:xfrm>
        </p:spPr>
        <p:txBody>
          <a:bodyPr>
            <a:normAutofit/>
          </a:bodyPr>
          <a:lstStyle/>
          <a:p>
            <a:r>
              <a:rPr lang="en-US" dirty="0" smtClean="0"/>
              <a:t>Focus on the actors and their relations</a:t>
            </a:r>
          </a:p>
          <a:p>
            <a:r>
              <a:rPr lang="en-US" dirty="0" smtClean="0"/>
              <a:t>An analytical vehicle to study</a:t>
            </a:r>
          </a:p>
          <a:p>
            <a:pPr lvl="1"/>
            <a:r>
              <a:rPr lang="en-US" dirty="0" smtClean="0"/>
              <a:t>Actors, their attributes, with whom they choose to collaborate (or fight with), why, and in what venues?</a:t>
            </a:r>
          </a:p>
          <a:p>
            <a:pPr lvl="1"/>
            <a:r>
              <a:rPr lang="en-US" dirty="0" smtClean="0"/>
              <a:t>Group-level characteristics (network cohesion, heterogeneity, centralization, etc.) and collective “performance”</a:t>
            </a:r>
          </a:p>
        </p:txBody>
      </p:sp>
    </p:spTree>
    <p:extLst>
      <p:ext uri="{BB962C8B-B14F-4D97-AF65-F5344CB8AC3E}">
        <p14:creationId xmlns:p14="http://schemas.microsoft.com/office/powerpoint/2010/main" val="238402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Systems perspective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Describe systems</a:t>
            </a:r>
          </a:p>
          <a:p>
            <a:pPr eaLnBrk="1" hangingPunct="1">
              <a:defRPr/>
            </a:pPr>
            <a:r>
              <a:rPr lang="en-US" dirty="0"/>
              <a:t>Nodes and links (i.e. parts and relations)</a:t>
            </a:r>
          </a:p>
          <a:p>
            <a:pPr eaLnBrk="1" hangingPunct="1">
              <a:defRPr/>
            </a:pPr>
            <a:r>
              <a:rPr lang="en-US" dirty="0"/>
              <a:t>Pattern of interaction</a:t>
            </a:r>
          </a:p>
          <a:p>
            <a:pPr eaLnBrk="1" hangingPunct="1">
              <a:defRPr/>
            </a:pPr>
            <a:r>
              <a:rPr lang="en-US" dirty="0"/>
              <a:t>Structural analysis of parts and relations</a:t>
            </a:r>
          </a:p>
          <a:p>
            <a:pPr eaLnBrk="1" hangingPunct="1">
              <a:defRPr/>
            </a:pPr>
            <a:r>
              <a:rPr lang="en-US" dirty="0"/>
              <a:t>Multi-disciplinary -&gt; many applications</a:t>
            </a:r>
          </a:p>
        </p:txBody>
      </p:sp>
      <p:pic>
        <p:nvPicPr>
          <p:cNvPr id="7172" name="Picture 5" descr="NWbild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24563" y="2349500"/>
            <a:ext cx="4248150" cy="2755900"/>
          </a:xfrm>
        </p:spPr>
      </p:pic>
    </p:spTree>
    <p:extLst>
      <p:ext uri="{BB962C8B-B14F-4D97-AF65-F5344CB8AC3E}">
        <p14:creationId xmlns:p14="http://schemas.microsoft.com/office/powerpoint/2010/main" val="210757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051" y="1484203"/>
            <a:ext cx="1612900" cy="1231900"/>
          </a:xfrm>
          <a:prstGeom prst="rect">
            <a:avLst/>
          </a:prstGeom>
        </p:spPr>
      </p:pic>
      <p:pic>
        <p:nvPicPr>
          <p:cNvPr id="7" name="Picture 6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661" y="1139030"/>
            <a:ext cx="1612900" cy="1231900"/>
          </a:xfrm>
          <a:prstGeom prst="rect">
            <a:avLst/>
          </a:prstGeom>
        </p:spPr>
      </p:pic>
      <p:pic>
        <p:nvPicPr>
          <p:cNvPr id="8" name="Picture 7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323" y="3352831"/>
            <a:ext cx="1612900" cy="1231900"/>
          </a:xfrm>
          <a:prstGeom prst="rect">
            <a:avLst/>
          </a:prstGeom>
        </p:spPr>
      </p:pic>
      <p:pic>
        <p:nvPicPr>
          <p:cNvPr id="9" name="Picture 8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001" y="3928589"/>
            <a:ext cx="1612900" cy="1231900"/>
          </a:xfrm>
          <a:prstGeom prst="rect">
            <a:avLst/>
          </a:prstGeom>
        </p:spPr>
      </p:pic>
      <p:pic>
        <p:nvPicPr>
          <p:cNvPr id="10" name="Picture 9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683" y="2985289"/>
            <a:ext cx="1612900" cy="123190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 bwMode="auto">
          <a:xfrm flipV="1">
            <a:off x="5242484" y="1911729"/>
            <a:ext cx="903434" cy="1309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 flipH="1" flipV="1">
            <a:off x="7154098" y="2500961"/>
            <a:ext cx="366612" cy="11260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V="1">
            <a:off x="4142651" y="3928589"/>
            <a:ext cx="743033" cy="288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4705661" y="2716103"/>
            <a:ext cx="707037" cy="6367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 flipV="1">
            <a:off x="3815320" y="2828311"/>
            <a:ext cx="222585" cy="11002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14564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10"/>
          <p:cNvSpPr>
            <a:spLocks noChangeArrowheads="1"/>
          </p:cNvSpPr>
          <p:nvPr/>
        </p:nvSpPr>
        <p:spPr bwMode="auto">
          <a:xfrm>
            <a:off x="2208213" y="4797427"/>
            <a:ext cx="7416800" cy="720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pic>
        <p:nvPicPr>
          <p:cNvPr id="173071" name="Picture 15" descr="foodwe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749" y="941532"/>
            <a:ext cx="55245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78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600" dirty="0"/>
              <a:t>Structural characteristics of importance in any network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195424"/>
            <a:ext cx="7772400" cy="31076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n-cs"/>
              </a:rPr>
              <a:t>Number of ties</a:t>
            </a:r>
          </a:p>
          <a:p>
            <a:pPr eaLnBrk="1" hangingPunct="1">
              <a:defRPr/>
            </a:pPr>
            <a:r>
              <a:rPr lang="en-US" dirty="0" smtClean="0">
                <a:cs typeface="+mn-cs"/>
              </a:rPr>
              <a:t>Centrality/key players</a:t>
            </a:r>
          </a:p>
          <a:p>
            <a:pPr eaLnBrk="1" hangingPunct="1">
              <a:defRPr/>
            </a:pPr>
            <a:r>
              <a:rPr lang="en-US" dirty="0" smtClean="0"/>
              <a:t>Subgroups (clustering)</a:t>
            </a:r>
          </a:p>
          <a:p>
            <a:pPr>
              <a:defRPr/>
            </a:pPr>
            <a:r>
              <a:rPr lang="en-US" dirty="0" smtClean="0"/>
              <a:t>Heterogeneity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24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1" name="Object 4"/>
          <p:cNvGraphicFramePr>
            <a:graphicFrameLocks noChangeAspect="1"/>
          </p:cNvGraphicFramePr>
          <p:nvPr/>
        </p:nvGraphicFramePr>
        <p:xfrm>
          <a:off x="2279650" y="2276476"/>
          <a:ext cx="7380288" cy="173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Visio" r:id="rId3" imgW="2908300" imgH="698500" progId="Visio.Drawing.6">
                  <p:embed/>
                </p:oleObj>
              </mc:Choice>
              <mc:Fallback>
                <p:oleObj name="Visio" r:id="rId3" imgW="2908300" imgH="698500" progId="Visio.Drawing.6">
                  <p:embed/>
                  <p:pic>
                    <p:nvPicPr>
                      <p:cNvPr id="2560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276476"/>
                        <a:ext cx="7380288" cy="173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65" name="Text Box 5"/>
          <p:cNvSpPr txBox="1">
            <a:spLocks noChangeArrowheads="1"/>
          </p:cNvSpPr>
          <p:nvPr/>
        </p:nvSpPr>
        <p:spPr bwMode="auto">
          <a:xfrm>
            <a:off x="5788025" y="2943225"/>
            <a:ext cx="4619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OR</a:t>
            </a:r>
          </a:p>
        </p:txBody>
      </p:sp>
      <p:sp>
        <p:nvSpPr>
          <p:cNvPr id="245766" name="Text Box 6"/>
          <p:cNvSpPr txBox="1">
            <a:spLocks noChangeArrowheads="1"/>
          </p:cNvSpPr>
          <p:nvPr/>
        </p:nvSpPr>
        <p:spPr bwMode="auto">
          <a:xfrm>
            <a:off x="9891713" y="2800350"/>
            <a:ext cx="2920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of 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42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3" name="Object 4"/>
          <p:cNvGraphicFramePr>
            <a:graphicFrameLocks noChangeAspect="1"/>
          </p:cNvGraphicFramePr>
          <p:nvPr/>
        </p:nvGraphicFramePr>
        <p:xfrm>
          <a:off x="3935413" y="2205038"/>
          <a:ext cx="4545012" cy="190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Visio" r:id="rId3" imgW="1612900" imgH="685800" progId="Visio.Drawing.6">
                  <p:embed/>
                </p:oleObj>
              </mc:Choice>
              <mc:Fallback>
                <p:oleObj name="Visio" r:id="rId3" imgW="1612900" imgH="685800" progId="Visio.Drawing.6">
                  <p:embed/>
                  <p:pic>
                    <p:nvPicPr>
                      <p:cNvPr id="337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2205038"/>
                        <a:ext cx="4545012" cy="190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57" name="Text Box 5"/>
          <p:cNvSpPr txBox="1">
            <a:spLocks noChangeArrowheads="1"/>
          </p:cNvSpPr>
          <p:nvPr/>
        </p:nvSpPr>
        <p:spPr bwMode="auto">
          <a:xfrm>
            <a:off x="5932488" y="2800350"/>
            <a:ext cx="4619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OR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Centrality/key players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69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Subgroups (clusters)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137" y="2205037"/>
            <a:ext cx="4657725" cy="24479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78909" y="1948873"/>
            <a:ext cx="840509" cy="5634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2445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dirty="0" smtClean="0"/>
              <a:t>eterogeneity</a:t>
            </a:r>
            <a:endParaRPr lang="en-US" dirty="0"/>
          </a:p>
        </p:txBody>
      </p:sp>
      <p:pic>
        <p:nvPicPr>
          <p:cNvPr id="9" name="Content Placeholder 8" descr="Screen shot 2011-05-18 at 11.53.14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972" r="-49972"/>
          <a:stretch>
            <a:fillRect/>
          </a:stretch>
        </p:blipFill>
        <p:spPr>
          <a:xfrm>
            <a:off x="1790816" y="1972824"/>
            <a:ext cx="4707700" cy="2228850"/>
          </a:xfrm>
        </p:spPr>
      </p:pic>
      <p:pic>
        <p:nvPicPr>
          <p:cNvPr id="10" name="Content Placeholder 9" descr="Screen shot 2011-05-18 at 11.53.14-2.png"/>
          <p:cNvPicPr>
            <a:picLocks noGrp="1" noChangeAspect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" r="1625"/>
          <a:stretch>
            <a:fillRect/>
          </a:stretch>
        </p:blipFill>
        <p:spPr>
          <a:xfrm>
            <a:off x="6740960" y="1972824"/>
            <a:ext cx="2355850" cy="2305050"/>
          </a:xfrm>
        </p:spPr>
      </p:pic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5520617" y="2781300"/>
            <a:ext cx="6914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..OR..</a:t>
            </a:r>
          </a:p>
        </p:txBody>
      </p:sp>
    </p:spTree>
    <p:extLst>
      <p:ext uri="{BB962C8B-B14F-4D97-AF65-F5344CB8AC3E}">
        <p14:creationId xmlns:p14="http://schemas.microsoft.com/office/powerpoint/2010/main" val="261219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841" y="2564857"/>
            <a:ext cx="1612900" cy="1231900"/>
          </a:xfrm>
          <a:prstGeom prst="rect">
            <a:avLst/>
          </a:prstGeom>
        </p:spPr>
      </p:pic>
      <p:pic>
        <p:nvPicPr>
          <p:cNvPr id="7" name="Picture 6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661" y="2219684"/>
            <a:ext cx="1612900" cy="1231900"/>
          </a:xfrm>
          <a:prstGeom prst="rect">
            <a:avLst/>
          </a:prstGeom>
        </p:spPr>
      </p:pic>
      <p:pic>
        <p:nvPicPr>
          <p:cNvPr id="8" name="Picture 7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323" y="4433485"/>
            <a:ext cx="1612900" cy="1231900"/>
          </a:xfrm>
          <a:prstGeom prst="rect">
            <a:avLst/>
          </a:prstGeom>
        </p:spPr>
      </p:pic>
      <p:pic>
        <p:nvPicPr>
          <p:cNvPr id="9" name="Picture 8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001" y="5009243"/>
            <a:ext cx="1612900" cy="1231900"/>
          </a:xfrm>
          <a:prstGeom prst="rect">
            <a:avLst/>
          </a:prstGeom>
        </p:spPr>
      </p:pic>
      <p:pic>
        <p:nvPicPr>
          <p:cNvPr id="10" name="Picture 9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683" y="4065943"/>
            <a:ext cx="1612900" cy="123190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 bwMode="auto">
          <a:xfrm flipV="1">
            <a:off x="5242484" y="2992383"/>
            <a:ext cx="903434" cy="1309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 flipH="1" flipV="1">
            <a:off x="7154098" y="3581615"/>
            <a:ext cx="366612" cy="11260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V="1">
            <a:off x="4142651" y="5009243"/>
            <a:ext cx="743033" cy="288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4705661" y="3796757"/>
            <a:ext cx="707037" cy="6367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 flipV="1">
            <a:off x="3815320" y="3908965"/>
            <a:ext cx="222585" cy="11002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of ties (network density)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8862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051" y="2241583"/>
            <a:ext cx="1612900" cy="1231900"/>
          </a:xfrm>
          <a:prstGeom prst="rect">
            <a:avLst/>
          </a:prstGeom>
        </p:spPr>
      </p:pic>
      <p:pic>
        <p:nvPicPr>
          <p:cNvPr id="7" name="Picture 6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661" y="1896410"/>
            <a:ext cx="1612900" cy="1231900"/>
          </a:xfrm>
          <a:prstGeom prst="rect">
            <a:avLst/>
          </a:prstGeom>
        </p:spPr>
      </p:pic>
      <p:pic>
        <p:nvPicPr>
          <p:cNvPr id="8" name="Picture 7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323" y="4110211"/>
            <a:ext cx="1612900" cy="1231900"/>
          </a:xfrm>
          <a:prstGeom prst="rect">
            <a:avLst/>
          </a:prstGeom>
        </p:spPr>
      </p:pic>
      <p:pic>
        <p:nvPicPr>
          <p:cNvPr id="9" name="Picture 8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001" y="4685969"/>
            <a:ext cx="1612900" cy="1231900"/>
          </a:xfrm>
          <a:prstGeom prst="rect">
            <a:avLst/>
          </a:prstGeom>
        </p:spPr>
      </p:pic>
      <p:pic>
        <p:nvPicPr>
          <p:cNvPr id="10" name="Picture 9" descr="Screen shot 2011-05-25 at 11.03.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683" y="3742669"/>
            <a:ext cx="1612900" cy="123190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 bwMode="auto">
          <a:xfrm flipV="1">
            <a:off x="5242484" y="2669109"/>
            <a:ext cx="903434" cy="1309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 flipH="1" flipV="1">
            <a:off x="7154098" y="3258341"/>
            <a:ext cx="366612" cy="11260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V="1">
            <a:off x="4142651" y="4685969"/>
            <a:ext cx="743033" cy="288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4705661" y="3473483"/>
            <a:ext cx="707037" cy="6367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 flipV="1">
            <a:off x="3815320" y="3585691"/>
            <a:ext cx="222585" cy="11002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V="1">
            <a:off x="3967720" y="3022649"/>
            <a:ext cx="2178199" cy="18157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4395902" y="4974569"/>
            <a:ext cx="2758196" cy="3675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V="1">
            <a:off x="6286662" y="3128311"/>
            <a:ext cx="461546" cy="9819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20" name="Straight Arrow Connector 19"/>
          <p:cNvCxnSpPr>
            <a:stCxn id="10" idx="3"/>
          </p:cNvCxnSpPr>
          <p:nvPr/>
        </p:nvCxnSpPr>
        <p:spPr bwMode="auto">
          <a:xfrm>
            <a:off x="6498584" y="4358619"/>
            <a:ext cx="865007" cy="2222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flipH="1" flipV="1">
            <a:off x="5049951" y="3128311"/>
            <a:ext cx="2213372" cy="11251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2089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information/knowledge sharing</a:t>
            </a:r>
          </a:p>
          <a:p>
            <a:r>
              <a:rPr lang="en-US" dirty="0" smtClean="0"/>
              <a:t>More </a:t>
            </a:r>
            <a:r>
              <a:rPr lang="en-US" dirty="0"/>
              <a:t>of coherence &amp; </a:t>
            </a:r>
            <a:r>
              <a:rPr lang="en-US" dirty="0" smtClean="0"/>
              <a:t>consensus(?)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…but is that always good?</a:t>
            </a:r>
          </a:p>
          <a:p>
            <a:pPr lvl="1"/>
            <a:r>
              <a:rPr lang="en-US" dirty="0" smtClean="0"/>
              <a:t>Networking takes time</a:t>
            </a:r>
          </a:p>
          <a:p>
            <a:pPr lvl="1"/>
            <a:r>
              <a:rPr lang="en-US" dirty="0" smtClean="0"/>
              <a:t>Too much group thinking(?)</a:t>
            </a:r>
          </a:p>
          <a:p>
            <a:pPr lvl="1"/>
            <a:r>
              <a:rPr lang="en-US" dirty="0" smtClean="0"/>
              <a:t>Impossible to talk to everyone in a large group</a:t>
            </a:r>
            <a:endParaRPr lang="en-US" dirty="0"/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more the better?</a:t>
            </a:r>
          </a:p>
        </p:txBody>
      </p:sp>
    </p:spTree>
    <p:extLst>
      <p:ext uri="{BB962C8B-B14F-4D97-AF65-F5344CB8AC3E}">
        <p14:creationId xmlns:p14="http://schemas.microsoft.com/office/powerpoint/2010/main" val="58376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Antarctic fisheries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776414"/>
            <a:ext cx="7772400" cy="3820822"/>
          </a:xfrm>
        </p:spPr>
        <p:txBody>
          <a:bodyPr>
            <a:normAutofit/>
          </a:bodyPr>
          <a:lstStyle/>
          <a:p>
            <a:r>
              <a:rPr lang="en-US" dirty="0" smtClean="0"/>
              <a:t>Valuable fishery, large geographical area to monitor</a:t>
            </a:r>
          </a:p>
          <a:p>
            <a:r>
              <a:rPr lang="en-US" dirty="0" smtClean="0"/>
              <a:t>Managed </a:t>
            </a:r>
            <a:r>
              <a:rPr lang="en-US" dirty="0"/>
              <a:t>by </a:t>
            </a:r>
            <a:r>
              <a:rPr lang="en-US" dirty="0" smtClean="0"/>
              <a:t>CCAMLR </a:t>
            </a:r>
            <a:r>
              <a:rPr lang="en-US" dirty="0"/>
              <a:t>(Commission for the Conservation of Antarctic Marine Living </a:t>
            </a:r>
            <a:r>
              <a:rPr lang="en-US" dirty="0" smtClean="0"/>
              <a:t>Resources)</a:t>
            </a:r>
          </a:p>
          <a:p>
            <a:r>
              <a:rPr lang="en-US" dirty="0" smtClean="0"/>
              <a:t>Collaboration between states</a:t>
            </a:r>
          </a:p>
          <a:p>
            <a:r>
              <a:rPr lang="en-US" dirty="0" smtClean="0"/>
              <a:t>Involving NGO and legal fishing industry</a:t>
            </a:r>
          </a:p>
          <a:p>
            <a:r>
              <a:rPr lang="en-US" dirty="0" smtClean="0"/>
              <a:t>Their main objective is to </a:t>
            </a:r>
            <a:r>
              <a:rPr lang="en-US" dirty="0"/>
              <a:t>prevent Illegal, Unreported and Unregulated (IUU) fishing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99316" y="6207861"/>
            <a:ext cx="5068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Österblom</a:t>
            </a:r>
            <a:r>
              <a:rPr lang="en-US" sz="1200" dirty="0"/>
              <a:t> H, </a:t>
            </a:r>
            <a:r>
              <a:rPr lang="en-US" sz="1200" dirty="0" err="1"/>
              <a:t>Sumaila</a:t>
            </a:r>
            <a:r>
              <a:rPr lang="en-US" sz="1200" dirty="0"/>
              <a:t> UR, Bodin </a:t>
            </a:r>
            <a:r>
              <a:rPr lang="en-US" sz="1200" dirty="0" err="1"/>
              <a:t>Ö</a:t>
            </a:r>
            <a:r>
              <a:rPr lang="en-US" sz="1200" dirty="0"/>
              <a:t>, </a:t>
            </a:r>
            <a:r>
              <a:rPr lang="en-US" sz="1200" dirty="0" err="1"/>
              <a:t>Hentati</a:t>
            </a:r>
            <a:r>
              <a:rPr lang="en-US" sz="1200" dirty="0"/>
              <a:t> </a:t>
            </a:r>
            <a:r>
              <a:rPr lang="en-US" sz="1200" dirty="0" err="1"/>
              <a:t>Sundberg</a:t>
            </a:r>
            <a:r>
              <a:rPr lang="en-US" sz="1200" dirty="0"/>
              <a:t> J, Press AJ (2010) Adapting to Regional Enforcement: Fishing Down the Governance Index. </a:t>
            </a:r>
            <a:r>
              <a:rPr lang="en-US" sz="1200" dirty="0" err="1"/>
              <a:t>PLoS</a:t>
            </a:r>
            <a:r>
              <a:rPr lang="en-US" sz="1200" dirty="0"/>
              <a:t> ONE 5:e12832.</a:t>
            </a:r>
          </a:p>
        </p:txBody>
      </p:sp>
    </p:spTree>
    <p:extLst>
      <p:ext uri="{BB962C8B-B14F-4D97-AF65-F5344CB8AC3E}">
        <p14:creationId xmlns:p14="http://schemas.microsoft.com/office/powerpoint/2010/main" val="155752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ig1 110512 v4_high-0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159" r="-21159"/>
          <a:stretch>
            <a:fillRect/>
          </a:stretch>
        </p:blipFill>
        <p:spPr>
          <a:xfrm>
            <a:off x="1064810" y="772549"/>
            <a:ext cx="9892729" cy="46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1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A_At-sea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15" y="-176699"/>
            <a:ext cx="4391750" cy="4391750"/>
          </a:xfrm>
          <a:prstGeom prst="rect">
            <a:avLst/>
          </a:prstGeom>
        </p:spPr>
      </p:pic>
      <p:pic>
        <p:nvPicPr>
          <p:cNvPr id="3" name="Picture 2" descr="FigB_Vessel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144" y="-811669"/>
            <a:ext cx="5695788" cy="5695788"/>
          </a:xfrm>
          <a:prstGeom prst="rect">
            <a:avLst/>
          </a:prstGeom>
        </p:spPr>
      </p:pic>
      <p:pic>
        <p:nvPicPr>
          <p:cNvPr id="4" name="Picture 3" descr="FigC_Policy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345" y="2332943"/>
            <a:ext cx="4303288" cy="4303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32025" y="3332401"/>
            <a:ext cx="201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sea co-operation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7242" y="5358214"/>
            <a:ext cx="1985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Policy co-operation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06870" y="3354860"/>
            <a:ext cx="2567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Vessel and trade information exchange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3512095" y="1470188"/>
            <a:ext cx="829250" cy="73481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8351616" y="1695335"/>
            <a:ext cx="829250" cy="73481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6496287" y="4255581"/>
            <a:ext cx="829250" cy="73481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06177" y="6095364"/>
            <a:ext cx="3775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Österblom H, Bodin Ö. (2012) Global cooperation among diverse organizations to reduce illegal fishing in the Southern Ocean. Conservation Biology</a:t>
            </a:r>
          </a:p>
        </p:txBody>
      </p:sp>
    </p:spTree>
    <p:extLst>
      <p:ext uri="{BB962C8B-B14F-4D97-AF65-F5344CB8AC3E}">
        <p14:creationId xmlns:p14="http://schemas.microsoft.com/office/powerpoint/2010/main" val="218887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CCAMLR secretariat centrally positioned in all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937" y="2812762"/>
            <a:ext cx="10515600" cy="4351338"/>
          </a:xfrm>
        </p:spPr>
        <p:txBody>
          <a:bodyPr/>
          <a:lstStyle/>
          <a:p>
            <a:r>
              <a:rPr lang="en-US" dirty="0" smtClean="0"/>
              <a:t>Good position to </a:t>
            </a:r>
            <a:r>
              <a:rPr lang="en-US" b="1" dirty="0" smtClean="0"/>
              <a:t>coordinate</a:t>
            </a:r>
          </a:p>
          <a:p>
            <a:r>
              <a:rPr lang="en-US" dirty="0" smtClean="0"/>
              <a:t>Legitimate actor (authorized and trusted by the members)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56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915176"/>
            <a:ext cx="7772400" cy="153310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Also, “diversified centrality”– other </a:t>
            </a:r>
            <a:r>
              <a:rPr lang="en-US" i="1" dirty="0" smtClean="0"/>
              <a:t>types</a:t>
            </a:r>
            <a:r>
              <a:rPr lang="en-US" dirty="0" smtClean="0"/>
              <a:t> of organizations are embedded and perceived as important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103" y="3158561"/>
            <a:ext cx="6870704" cy="320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0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Former enemies became allies (</a:t>
            </a:r>
            <a:r>
              <a:rPr lang="en-US" i="1" dirty="0" smtClean="0"/>
              <a:t>connecting groups</a:t>
            </a:r>
            <a:r>
              <a:rPr lang="en-US" dirty="0" smtClean="0"/>
              <a:t>)</a:t>
            </a:r>
            <a:endParaRPr lang="sv-S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1728932"/>
            <a:ext cx="8229600" cy="426850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 bwMode="auto">
          <a:xfrm>
            <a:off x="3678350" y="3105024"/>
            <a:ext cx="533432" cy="32166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6411143" y="4066409"/>
            <a:ext cx="533432" cy="321666"/>
          </a:xfrm>
          <a:prstGeom prst="ellipse">
            <a:avLst/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892932" y="5474152"/>
            <a:ext cx="533432" cy="321666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16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So…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Central </a:t>
            </a:r>
            <a:r>
              <a:rPr lang="en-US" i="1" dirty="0" smtClean="0"/>
              <a:t>legitimate</a:t>
            </a:r>
            <a:r>
              <a:rPr lang="en-US" dirty="0" smtClean="0"/>
              <a:t> actor keeps up the momentum (network centralization)</a:t>
            </a:r>
          </a:p>
          <a:p>
            <a:r>
              <a:rPr lang="en-US" dirty="0" smtClean="0"/>
              <a:t>Diversity (heterogeneity) among the “most important” actors</a:t>
            </a:r>
          </a:p>
          <a:p>
            <a:r>
              <a:rPr lang="en-US" dirty="0" smtClean="0"/>
              <a:t>“Opponents” found some common ground</a:t>
            </a:r>
          </a:p>
        </p:txBody>
      </p:sp>
    </p:spTree>
    <p:extLst>
      <p:ext uri="{BB962C8B-B14F-4D97-AF65-F5344CB8AC3E}">
        <p14:creationId xmlns:p14="http://schemas.microsoft.com/office/powerpoint/2010/main" val="107245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dirty="0"/>
              <a:t>Social network analysis in environmental science </a:t>
            </a:r>
            <a:r>
              <a:rPr lang="en-SE" sz="4000" dirty="0"/>
              <a:t>–</a:t>
            </a:r>
            <a:r>
              <a:rPr lang="en-US" sz="4000" dirty="0"/>
              <a:t> </a:t>
            </a:r>
            <a:r>
              <a:rPr lang="en-US" sz="4000" i="1" dirty="0"/>
              <a:t>so far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v-SE" dirty="0" smtClean="0"/>
              <a:t>Map social structures</a:t>
            </a:r>
          </a:p>
          <a:p>
            <a:pPr eaLnBrk="1" hangingPunct="1"/>
            <a:r>
              <a:rPr lang="en-US" altLang="sv-SE" dirty="0" smtClean="0"/>
              <a:t>Find or define groups</a:t>
            </a:r>
          </a:p>
          <a:p>
            <a:pPr eaLnBrk="1" hangingPunct="1"/>
            <a:r>
              <a:rPr lang="en-US" altLang="sv-SE" dirty="0" smtClean="0"/>
              <a:t>Find central actors</a:t>
            </a:r>
          </a:p>
          <a:p>
            <a:pPr eaLnBrk="1" hangingPunct="1"/>
            <a:r>
              <a:rPr lang="en-US" altLang="sv-SE" dirty="0" smtClean="0"/>
              <a:t>Analyze pattern of communications</a:t>
            </a:r>
          </a:p>
          <a:p>
            <a:pPr lvl="1" eaLnBrk="1" hangingPunct="1"/>
            <a:r>
              <a:rPr lang="en-US" altLang="sv-SE" dirty="0" smtClean="0"/>
              <a:t>Who are involved/isolated?</a:t>
            </a:r>
          </a:p>
        </p:txBody>
      </p:sp>
    </p:spTree>
    <p:extLst>
      <p:ext uri="{BB962C8B-B14F-4D97-AF65-F5344CB8AC3E}">
        <p14:creationId xmlns:p14="http://schemas.microsoft.com/office/powerpoint/2010/main" val="61979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52499"/>
          <a:stretch/>
        </p:blipFill>
        <p:spPr>
          <a:xfrm>
            <a:off x="4366260" y="2321562"/>
            <a:ext cx="3456940" cy="2987619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7721600" y="3815370"/>
            <a:ext cx="1115060" cy="7331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874769" y="3556006"/>
            <a:ext cx="1600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Outcome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74769" y="2362206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Outcome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74769" y="4838706"/>
            <a:ext cx="1591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Outcome C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721600" y="2679703"/>
            <a:ext cx="1115060" cy="8763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8" idx="1"/>
          </p:cNvCxnSpPr>
          <p:nvPr/>
        </p:nvCxnSpPr>
        <p:spPr>
          <a:xfrm>
            <a:off x="7721606" y="4124964"/>
            <a:ext cx="1153163" cy="94457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294380" y="3808042"/>
            <a:ext cx="1115060" cy="7331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251764" y="2679706"/>
            <a:ext cx="1195785" cy="988351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3294382" y="4003177"/>
            <a:ext cx="1071878" cy="1066357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35983" y="3556006"/>
            <a:ext cx="1390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Process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5983" y="236220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Process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5983" y="4838706"/>
            <a:ext cx="1381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Process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330" y="5309179"/>
            <a:ext cx="264687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INDEPENDENT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1019" y="5314539"/>
            <a:ext cx="226476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DEPENDENT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as a variable</a:t>
            </a:r>
            <a:endParaRPr lang="sv-SE" dirty="0"/>
          </a:p>
        </p:txBody>
      </p:sp>
      <p:sp>
        <p:nvSpPr>
          <p:cNvPr id="21" name="TextBox 20"/>
          <p:cNvSpPr txBox="1"/>
          <p:nvPr/>
        </p:nvSpPr>
        <p:spPr>
          <a:xfrm>
            <a:off x="8238249" y="6385530"/>
            <a:ext cx="225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Borrowed from Steven Alexander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172615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6" grpId="2"/>
      <p:bldP spid="7" grpId="0"/>
      <p:bldP spid="7" grpId="1"/>
      <p:bldP spid="7" grpId="2"/>
      <p:bldP spid="8" grpId="0"/>
      <p:bldP spid="8" grpId="1"/>
      <p:bldP spid="8" grpId="2"/>
      <p:bldP spid="14" grpId="0"/>
      <p:bldP spid="15" grpId="0"/>
      <p:bldP spid="16" grpId="0"/>
      <p:bldP spid="17" grpId="0"/>
      <p:bldP spid="17" grpId="1"/>
      <p:bldP spid="18" grpId="0"/>
      <p:bldP spid="18" grpId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 to Jasny</a:t>
            </a:r>
            <a:r>
              <a:rPr lang="en-SE" dirty="0" smtClean="0"/>
              <a:t>…</a:t>
            </a:r>
            <a:r>
              <a:rPr lang="en-US" dirty="0" smtClean="0"/>
              <a:t>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7846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721</Words>
  <Application>Microsoft Office PowerPoint</Application>
  <PresentationFormat>Widescreen</PresentationFormat>
  <Paragraphs>123</Paragraphs>
  <Slides>29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ＭＳ Ｐゴシック</vt:lpstr>
      <vt:lpstr>Arial</vt:lpstr>
      <vt:lpstr>Calibri</vt:lpstr>
      <vt:lpstr>Calibri Light</vt:lpstr>
      <vt:lpstr>Symbol</vt:lpstr>
      <vt:lpstr>Times</vt:lpstr>
      <vt:lpstr>Times New Roman</vt:lpstr>
      <vt:lpstr>Office Theme</vt:lpstr>
      <vt:lpstr>Visio</vt:lpstr>
      <vt:lpstr>Workshop: Social-Ecological Network Analysis </vt:lpstr>
      <vt:lpstr>Today</vt:lpstr>
      <vt:lpstr>Cont.</vt:lpstr>
      <vt:lpstr>Software</vt:lpstr>
      <vt:lpstr>Sustainability challenges</vt:lpstr>
      <vt:lpstr>Some success stories</vt:lpstr>
      <vt:lpstr>Just striving for collaboration does not fix it all…</vt:lpstr>
      <vt:lpstr>If/when/why is collaboration leading to desirable outcomes? – A network perspective</vt:lpstr>
      <vt:lpstr>Systems perspective</vt:lpstr>
      <vt:lpstr>PowerPoint Presentation</vt:lpstr>
      <vt:lpstr>PowerPoint Presentation</vt:lpstr>
      <vt:lpstr>Structural characteristics of importance in any network</vt:lpstr>
      <vt:lpstr>Number of ties</vt:lpstr>
      <vt:lpstr>Centrality/key players</vt:lpstr>
      <vt:lpstr>Subgroups (clusters)</vt:lpstr>
      <vt:lpstr>Heterogeneity</vt:lpstr>
      <vt:lpstr>Number of ties (network density)</vt:lpstr>
      <vt:lpstr>PowerPoint Presentation</vt:lpstr>
      <vt:lpstr>The more the better?</vt:lpstr>
      <vt:lpstr>Antarctic fisheries</vt:lpstr>
      <vt:lpstr>PowerPoint Presentation</vt:lpstr>
      <vt:lpstr>PowerPoint Presentation</vt:lpstr>
      <vt:lpstr>CCAMLR secretariat centrally positioned in all networks</vt:lpstr>
      <vt:lpstr>Also, “diversified centrality”– other types of organizations are embedded and perceived as important</vt:lpstr>
      <vt:lpstr>Former enemies became allies (connecting groups)</vt:lpstr>
      <vt:lpstr>So…</vt:lpstr>
      <vt:lpstr>Social network analysis in environmental science – so far</vt:lpstr>
      <vt:lpstr>Network as a variable</vt:lpstr>
      <vt:lpstr>Over to Jasny….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Workshop: Social-Ecological Network Analysis </dc:title>
  <dc:creator>Örjan Bodin</dc:creator>
  <cp:lastModifiedBy>Örjan Bodin</cp:lastModifiedBy>
  <cp:revision>12</cp:revision>
  <dcterms:created xsi:type="dcterms:W3CDTF">2022-04-20T06:16:54Z</dcterms:created>
  <dcterms:modified xsi:type="dcterms:W3CDTF">2022-06-14T12:27:49Z</dcterms:modified>
</cp:coreProperties>
</file>