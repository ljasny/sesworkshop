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0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70" r:id="rId12"/>
    <p:sldId id="269" r:id="rId13"/>
    <p:sldId id="271" r:id="rId14"/>
    <p:sldId id="273" r:id="rId15"/>
    <p:sldId id="274" r:id="rId16"/>
    <p:sldId id="275" r:id="rId17"/>
    <p:sldId id="276" r:id="rId18"/>
    <p:sldId id="277" r:id="rId19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2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A209A6-BE76-4278-9846-2811167C3D38}" type="datetimeFigureOut">
              <a:rPr lang="sv-SE" smtClean="0"/>
              <a:t>2022-04-20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6732ED-7AEF-4201-ADF0-0C516F676AD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700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9A078BD-428B-45AD-A4A7-061F994EE367}" type="slidenum">
              <a:rPr lang="en-US" altLang="sv-SE" smtClean="0"/>
              <a:pPr>
                <a:spcBef>
                  <a:spcPct val="0"/>
                </a:spcBef>
              </a:pPr>
              <a:t>1</a:t>
            </a:fld>
            <a:endParaRPr lang="en-US" altLang="sv-SE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95358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80F5710-F8F2-4BE2-86A4-C68922998477}" type="slidenum">
              <a:rPr lang="en-US" altLang="sv-SE" smtClean="0"/>
              <a:pPr>
                <a:spcBef>
                  <a:spcPct val="0"/>
                </a:spcBef>
              </a:pPr>
              <a:t>2</a:t>
            </a:fld>
            <a:endParaRPr lang="en-US" altLang="sv-SE" smtClean="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766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8F68A96-4EAB-4741-9407-E25A5BB146AE}" type="slidenum">
              <a:rPr lang="en-US" altLang="sv-SE" smtClean="0"/>
              <a:pPr>
                <a:spcBef>
                  <a:spcPct val="0"/>
                </a:spcBef>
              </a:pPr>
              <a:t>3</a:t>
            </a:fld>
            <a:endParaRPr lang="en-US" altLang="sv-SE" smtClean="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88332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0E36E94-E6D9-419E-8B71-AE9D6BB046B5}" type="slidenum">
              <a:rPr lang="en-US" altLang="sv-SE" smtClean="0"/>
              <a:pPr>
                <a:spcBef>
                  <a:spcPct val="0"/>
                </a:spcBef>
              </a:pPr>
              <a:t>4</a:t>
            </a:fld>
            <a:endParaRPr lang="en-US" altLang="sv-SE" smtClean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93189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EDE76FC-D8CE-4EDD-B07D-7D96623FBFDA}" type="slidenum">
              <a:rPr lang="en-US" altLang="sv-SE" smtClean="0"/>
              <a:pPr>
                <a:spcBef>
                  <a:spcPct val="0"/>
                </a:spcBef>
              </a:pPr>
              <a:t>5</a:t>
            </a:fld>
            <a:endParaRPr lang="en-US" altLang="sv-SE" smtClean="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77369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BFCAA55-2B9B-473E-85F5-80E9A9C51E20}" type="slidenum">
              <a:rPr lang="en-US" altLang="sv-SE" smtClean="0"/>
              <a:pPr>
                <a:spcBef>
                  <a:spcPct val="0"/>
                </a:spcBef>
              </a:pPr>
              <a:t>6</a:t>
            </a:fld>
            <a:endParaRPr lang="en-US" altLang="sv-SE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722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95FFA1B-F901-4F3B-84F2-48401A1CD333}" type="slidenum">
              <a:rPr lang="en-US" altLang="sv-SE" smtClean="0"/>
              <a:pPr>
                <a:spcBef>
                  <a:spcPct val="0"/>
                </a:spcBef>
              </a:pPr>
              <a:t>7</a:t>
            </a:fld>
            <a:endParaRPr lang="en-US" altLang="sv-SE" smtClean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1757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56FF73C-B828-48B8-A0B4-019D223C995A}" type="slidenum">
              <a:rPr lang="en-US" altLang="sv-SE" smtClean="0"/>
              <a:pPr>
                <a:spcBef>
                  <a:spcPct val="0"/>
                </a:spcBef>
              </a:pPr>
              <a:t>8</a:t>
            </a:fld>
            <a:endParaRPr lang="en-US" altLang="sv-SE" smtClean="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657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1605C80-59F2-4C2D-87CB-39EC8B436B92}" type="slidenum">
              <a:rPr lang="en-US" altLang="sv-SE" smtClean="0"/>
              <a:pPr>
                <a:spcBef>
                  <a:spcPct val="0"/>
                </a:spcBef>
              </a:pPr>
              <a:t>9</a:t>
            </a:fld>
            <a:endParaRPr lang="en-US" altLang="sv-SE" smtClean="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92173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B4B0945-6608-497D-9C05-9A2EA58CF124}" type="slidenum">
              <a:rPr lang="en-US" altLang="sv-SE" smtClean="0"/>
              <a:pPr>
                <a:spcBef>
                  <a:spcPct val="0"/>
                </a:spcBef>
              </a:pPr>
              <a:t>10</a:t>
            </a:fld>
            <a:endParaRPr lang="en-US" altLang="sv-SE" smtClean="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2543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6324C-110E-4FD4-A010-2F1B67E40E17}" type="datetimeFigureOut">
              <a:rPr lang="sv-SE" smtClean="0"/>
              <a:t>2022-04-20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C679F-D1D8-42CC-A2C9-5886B8E31EC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42780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6324C-110E-4FD4-A010-2F1B67E40E17}" type="datetimeFigureOut">
              <a:rPr lang="sv-SE" smtClean="0"/>
              <a:t>2022-04-20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C679F-D1D8-42CC-A2C9-5886B8E31EC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15808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6324C-110E-4FD4-A010-2F1B67E40E17}" type="datetimeFigureOut">
              <a:rPr lang="sv-SE" smtClean="0"/>
              <a:t>2022-04-20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C679F-D1D8-42CC-A2C9-5886B8E31EC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92073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6324C-110E-4FD4-A010-2F1B67E40E17}" type="datetimeFigureOut">
              <a:rPr lang="sv-SE" smtClean="0"/>
              <a:t>2022-04-20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C679F-D1D8-42CC-A2C9-5886B8E31EC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89104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6324C-110E-4FD4-A010-2F1B67E40E17}" type="datetimeFigureOut">
              <a:rPr lang="sv-SE" smtClean="0"/>
              <a:t>2022-04-20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C679F-D1D8-42CC-A2C9-5886B8E31EC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72437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6324C-110E-4FD4-A010-2F1B67E40E17}" type="datetimeFigureOut">
              <a:rPr lang="sv-SE" smtClean="0"/>
              <a:t>2022-04-20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C679F-D1D8-42CC-A2C9-5886B8E31EC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18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6324C-110E-4FD4-A010-2F1B67E40E17}" type="datetimeFigureOut">
              <a:rPr lang="sv-SE" smtClean="0"/>
              <a:t>2022-04-20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C679F-D1D8-42CC-A2C9-5886B8E31EC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31046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6324C-110E-4FD4-A010-2F1B67E40E17}" type="datetimeFigureOut">
              <a:rPr lang="sv-SE" smtClean="0"/>
              <a:t>2022-04-20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C679F-D1D8-42CC-A2C9-5886B8E31EC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24775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6324C-110E-4FD4-A010-2F1B67E40E17}" type="datetimeFigureOut">
              <a:rPr lang="sv-SE" smtClean="0"/>
              <a:t>2022-04-20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C679F-D1D8-42CC-A2C9-5886B8E31EC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0455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6324C-110E-4FD4-A010-2F1B67E40E17}" type="datetimeFigureOut">
              <a:rPr lang="sv-SE" smtClean="0"/>
              <a:t>2022-04-20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C679F-D1D8-42CC-A2C9-5886B8E31EC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69139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6324C-110E-4FD4-A010-2F1B67E40E17}" type="datetimeFigureOut">
              <a:rPr lang="sv-SE" smtClean="0"/>
              <a:t>2022-04-20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C679F-D1D8-42CC-A2C9-5886B8E31EC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57736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C1649F-20DB-4EA1-B98C-CB79A4A64F5D}" type="slidenum">
              <a:rPr lang="en-US" altLang="sv-SE"/>
              <a:pPr>
                <a:defRPr/>
              </a:pPr>
              <a:t>‹#›</a:t>
            </a:fld>
            <a:endParaRPr lang="en-US" altLang="sv-SE"/>
          </a:p>
        </p:txBody>
      </p:sp>
    </p:spTree>
    <p:extLst>
      <p:ext uri="{BB962C8B-B14F-4D97-AF65-F5344CB8AC3E}">
        <p14:creationId xmlns:p14="http://schemas.microsoft.com/office/powerpoint/2010/main" val="3206929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6324C-110E-4FD4-A010-2F1B67E40E17}" type="datetimeFigureOut">
              <a:rPr lang="sv-SE" smtClean="0"/>
              <a:t>2022-04-20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C679F-D1D8-42CC-A2C9-5886B8E31EC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65613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png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png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cs typeface="+mj-cs"/>
              </a:rPr>
              <a:t>Block II</a:t>
            </a:r>
            <a:endParaRPr lang="en-US" dirty="0" smtClean="0">
              <a:cs typeface="+mj-cs"/>
            </a:endParaRPr>
          </a:p>
        </p:txBody>
      </p:sp>
      <p:sp>
        <p:nvSpPr>
          <p:cNvPr id="182277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7004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609600"/>
            <a:ext cx="7772400" cy="1600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>
                <a:cs typeface="+mj-cs"/>
              </a:rPr>
              <a:t>Ecological networks </a:t>
            </a:r>
            <a:r>
              <a:rPr lang="en-SE" dirty="0" smtClean="0">
                <a:cs typeface="+mj-cs"/>
              </a:rPr>
              <a:t>–</a:t>
            </a:r>
            <a:r>
              <a:rPr lang="en-US" dirty="0" smtClean="0">
                <a:cs typeface="+mj-cs"/>
              </a:rPr>
              <a:t> an example</a:t>
            </a:r>
            <a:endParaRPr lang="en-GB" i="1" dirty="0" smtClean="0">
              <a:cs typeface="+mj-cs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0" y="2590800"/>
            <a:ext cx="7772400" cy="28194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>
                <a:cs typeface="+mn-cs"/>
              </a:rPr>
              <a:t>Habitat destruction</a:t>
            </a:r>
          </a:p>
          <a:p>
            <a:pPr eaLnBrk="1" hangingPunct="1">
              <a:defRPr/>
            </a:pPr>
            <a:r>
              <a:rPr lang="en-US" dirty="0" smtClean="0"/>
              <a:t>Remnant habitat patches are left in the landscape</a:t>
            </a:r>
          </a:p>
          <a:p>
            <a:pPr eaLnBrk="1" hangingPunct="1">
              <a:defRPr/>
            </a:pPr>
            <a:r>
              <a:rPr lang="en-US" dirty="0" smtClean="0">
                <a:cs typeface="+mn-cs"/>
              </a:rPr>
              <a:t>They can still support biodiversity, but they benefit from being </a:t>
            </a:r>
            <a:r>
              <a:rPr lang="en-US" i="1" dirty="0" smtClean="0">
                <a:cs typeface="+mn-cs"/>
              </a:rPr>
              <a:t>ecological connected</a:t>
            </a:r>
            <a:r>
              <a:rPr lang="en-US" dirty="0" smtClean="0">
                <a:cs typeface="+mn-cs"/>
              </a:rPr>
              <a:t> with other patches</a:t>
            </a:r>
            <a:endParaRPr lang="en-GB" dirty="0" smtClean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269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>
                <a:cs typeface="+mj-cs"/>
              </a:rPr>
              <a:t>Graph/network approach</a:t>
            </a:r>
            <a:endParaRPr lang="en-GB" smtClean="0">
              <a:cs typeface="+mj-cs"/>
            </a:endParaRPr>
          </a:p>
        </p:txBody>
      </p:sp>
      <p:sp>
        <p:nvSpPr>
          <p:cNvPr id="58371" name="Rectangle 20"/>
          <p:cNvSpPr>
            <a:spLocks noChangeArrowheads="1"/>
          </p:cNvSpPr>
          <p:nvPr/>
        </p:nvSpPr>
        <p:spPr bwMode="auto">
          <a:xfrm>
            <a:off x="1752600" y="2514600"/>
            <a:ext cx="3479800" cy="3290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v-SE" altLang="sv-SE" sz="2400"/>
          </a:p>
        </p:txBody>
      </p:sp>
      <p:sp>
        <p:nvSpPr>
          <p:cNvPr id="58372" name="Oval 21"/>
          <p:cNvSpPr>
            <a:spLocks noChangeArrowheads="1"/>
          </p:cNvSpPr>
          <p:nvPr/>
        </p:nvSpPr>
        <p:spPr bwMode="auto">
          <a:xfrm>
            <a:off x="4219576" y="2879725"/>
            <a:ext cx="657225" cy="692150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v-SE" altLang="sv-SE" sz="2400"/>
          </a:p>
        </p:txBody>
      </p:sp>
      <p:sp>
        <p:nvSpPr>
          <p:cNvPr id="58373" name="Oval 22"/>
          <p:cNvSpPr>
            <a:spLocks noChangeArrowheads="1"/>
          </p:cNvSpPr>
          <p:nvPr/>
        </p:nvSpPr>
        <p:spPr bwMode="auto">
          <a:xfrm>
            <a:off x="1943101" y="3184526"/>
            <a:ext cx="2570163" cy="2246313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v-SE" altLang="sv-SE" sz="2400"/>
          </a:p>
        </p:txBody>
      </p:sp>
      <p:sp>
        <p:nvSpPr>
          <p:cNvPr id="58374" name="Line 23"/>
          <p:cNvSpPr>
            <a:spLocks noChangeShapeType="1"/>
          </p:cNvSpPr>
          <p:nvPr/>
        </p:nvSpPr>
        <p:spPr bwMode="auto">
          <a:xfrm flipV="1">
            <a:off x="3524251" y="3976689"/>
            <a:ext cx="885825" cy="244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58375" name="Oval 24"/>
          <p:cNvSpPr>
            <a:spLocks noChangeArrowheads="1"/>
          </p:cNvSpPr>
          <p:nvPr/>
        </p:nvSpPr>
        <p:spPr bwMode="auto">
          <a:xfrm>
            <a:off x="2890839" y="3916363"/>
            <a:ext cx="657225" cy="692150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v-SE" altLang="sv-SE" sz="2400"/>
          </a:p>
        </p:txBody>
      </p:sp>
      <p:sp>
        <p:nvSpPr>
          <p:cNvPr id="58376" name="Oval 25"/>
          <p:cNvSpPr>
            <a:spLocks noChangeArrowheads="1"/>
          </p:cNvSpPr>
          <p:nvPr/>
        </p:nvSpPr>
        <p:spPr bwMode="auto">
          <a:xfrm>
            <a:off x="2447926" y="2636838"/>
            <a:ext cx="657225" cy="692150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v-SE" altLang="sv-SE" sz="2400"/>
          </a:p>
        </p:txBody>
      </p:sp>
      <p:sp>
        <p:nvSpPr>
          <p:cNvPr id="58377" name="Text Box 26"/>
          <p:cNvSpPr txBox="1">
            <a:spLocks noChangeArrowheads="1"/>
          </p:cNvSpPr>
          <p:nvPr/>
        </p:nvSpPr>
        <p:spPr bwMode="auto">
          <a:xfrm>
            <a:off x="2063751" y="5445126"/>
            <a:ext cx="31718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sv-SE" sz="1800"/>
              <a:t>R=Movement ability (m)</a:t>
            </a:r>
          </a:p>
        </p:txBody>
      </p:sp>
      <p:sp>
        <p:nvSpPr>
          <p:cNvPr id="58378" name="Oval 27"/>
          <p:cNvSpPr>
            <a:spLocks noChangeArrowheads="1"/>
          </p:cNvSpPr>
          <p:nvPr/>
        </p:nvSpPr>
        <p:spPr bwMode="auto">
          <a:xfrm>
            <a:off x="2195514" y="4648200"/>
            <a:ext cx="655637" cy="692150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v-SE" altLang="sv-SE" sz="2400"/>
          </a:p>
        </p:txBody>
      </p:sp>
      <p:sp>
        <p:nvSpPr>
          <p:cNvPr id="58382" name="Oval 29"/>
          <p:cNvSpPr>
            <a:spLocks noChangeArrowheads="1"/>
          </p:cNvSpPr>
          <p:nvPr/>
        </p:nvSpPr>
        <p:spPr bwMode="auto">
          <a:xfrm>
            <a:off x="8881920" y="3002139"/>
            <a:ext cx="663304" cy="691950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v-SE" altLang="sv-SE" sz="2400"/>
          </a:p>
        </p:txBody>
      </p:sp>
      <p:sp>
        <p:nvSpPr>
          <p:cNvPr id="58383" name="Oval 30"/>
          <p:cNvSpPr>
            <a:spLocks noChangeArrowheads="1"/>
          </p:cNvSpPr>
          <p:nvPr/>
        </p:nvSpPr>
        <p:spPr bwMode="auto">
          <a:xfrm>
            <a:off x="7539327" y="4038159"/>
            <a:ext cx="663304" cy="691950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v-SE" altLang="sv-SE" sz="2400"/>
          </a:p>
        </p:txBody>
      </p:sp>
      <p:sp>
        <p:nvSpPr>
          <p:cNvPr id="58384" name="Oval 31"/>
          <p:cNvSpPr>
            <a:spLocks noChangeArrowheads="1"/>
          </p:cNvSpPr>
          <p:nvPr/>
        </p:nvSpPr>
        <p:spPr bwMode="auto">
          <a:xfrm>
            <a:off x="7091797" y="2759639"/>
            <a:ext cx="663304" cy="690680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v-SE" altLang="sv-SE" sz="2400"/>
          </a:p>
        </p:txBody>
      </p:sp>
      <p:sp>
        <p:nvSpPr>
          <p:cNvPr id="58385" name="Line 32"/>
          <p:cNvSpPr>
            <a:spLocks noChangeShapeType="1"/>
          </p:cNvSpPr>
          <p:nvPr/>
        </p:nvSpPr>
        <p:spPr bwMode="auto">
          <a:xfrm>
            <a:off x="7539327" y="3428736"/>
            <a:ext cx="191799" cy="670366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58386" name="Oval 33"/>
          <p:cNvSpPr>
            <a:spLocks noChangeArrowheads="1"/>
          </p:cNvSpPr>
          <p:nvPr/>
        </p:nvSpPr>
        <p:spPr bwMode="auto">
          <a:xfrm>
            <a:off x="6836065" y="4769468"/>
            <a:ext cx="663304" cy="691950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v-SE" altLang="sv-SE" sz="2400"/>
          </a:p>
        </p:txBody>
      </p:sp>
      <p:sp>
        <p:nvSpPr>
          <p:cNvPr id="58387" name="Line 34"/>
          <p:cNvSpPr>
            <a:spLocks noChangeShapeType="1"/>
          </p:cNvSpPr>
          <p:nvPr/>
        </p:nvSpPr>
        <p:spPr bwMode="auto">
          <a:xfrm flipV="1">
            <a:off x="7411461" y="4647583"/>
            <a:ext cx="255732" cy="24123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sv-SE"/>
          </a:p>
        </p:txBody>
      </p:sp>
      <p:sp>
        <p:nvSpPr>
          <p:cNvPr id="58388" name="Rectangle 35"/>
          <p:cNvSpPr>
            <a:spLocks noChangeArrowheads="1"/>
          </p:cNvSpPr>
          <p:nvPr/>
        </p:nvSpPr>
        <p:spPr bwMode="auto">
          <a:xfrm>
            <a:off x="6324601" y="2514600"/>
            <a:ext cx="3516313" cy="3290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v-SE" altLang="sv-SE" sz="2400"/>
          </a:p>
        </p:txBody>
      </p:sp>
      <p:sp>
        <p:nvSpPr>
          <p:cNvPr id="58380" name="AutoShape 36"/>
          <p:cNvSpPr>
            <a:spLocks noChangeArrowheads="1"/>
          </p:cNvSpPr>
          <p:nvPr/>
        </p:nvSpPr>
        <p:spPr bwMode="auto">
          <a:xfrm>
            <a:off x="4419600" y="1557338"/>
            <a:ext cx="3505200" cy="804862"/>
          </a:xfrm>
          <a:prstGeom prst="curvedDownArrow">
            <a:avLst>
              <a:gd name="adj1" fmla="val 87101"/>
              <a:gd name="adj2" fmla="val 174201"/>
              <a:gd name="adj3" fmla="val 33333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v-SE" altLang="sv-SE" sz="2400"/>
          </a:p>
        </p:txBody>
      </p:sp>
      <p:sp>
        <p:nvSpPr>
          <p:cNvPr id="58381" name="Text Box 37"/>
          <p:cNvSpPr txBox="1">
            <a:spLocks noChangeArrowheads="1"/>
          </p:cNvSpPr>
          <p:nvPr/>
        </p:nvSpPr>
        <p:spPr bwMode="auto">
          <a:xfrm>
            <a:off x="3575050" y="3644900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sv-SE" sz="2400">
                <a:latin typeface="Times New Roman" panose="02020603050405020304" pitchFamily="18" charset="0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3173656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cs typeface="+mj-cs"/>
              </a:rPr>
              <a:t>An example</a:t>
            </a:r>
          </a:p>
        </p:txBody>
      </p:sp>
      <p:pic>
        <p:nvPicPr>
          <p:cNvPr id="13320" name="Picture 8" descr="Net_B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6096000" y="3068638"/>
            <a:ext cx="3455988" cy="2005012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7"/>
                    </a:srgbClr>
                  </a:outerShdw>
                </a:effectLst>
              </a14:hiddenEffects>
            </a:ext>
          </a:extLst>
        </p:spPr>
      </p:pic>
      <p:pic>
        <p:nvPicPr>
          <p:cNvPr id="13322" name="Picture 10" descr="Buff_A"/>
          <p:cNvPicPr>
            <a:picLocks noGrp="1" noChangeAspect="1" noChangeArrowheads="1"/>
          </p:cNvPicPr>
          <p:nvPr>
            <p:ph sz="half" idx="1"/>
          </p:nvPr>
        </p:nvPicPr>
        <p:blipFill>
          <a:blip r:embed="rId4"/>
          <a:srcRect/>
          <a:stretch>
            <a:fillRect/>
          </a:stretch>
        </p:blipFill>
        <p:spPr>
          <a:xfrm>
            <a:off x="2424114" y="3068639"/>
            <a:ext cx="3455987" cy="2001837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7"/>
                    </a:srgbClr>
                  </a:outerShdw>
                </a:effectLst>
              </a14:hiddenEffects>
            </a:ext>
          </a:extLst>
        </p:spPr>
      </p:pic>
      <p:sp>
        <p:nvSpPr>
          <p:cNvPr id="60421" name="AutoShape 11"/>
          <p:cNvSpPr>
            <a:spLocks noChangeArrowheads="1"/>
          </p:cNvSpPr>
          <p:nvPr/>
        </p:nvSpPr>
        <p:spPr bwMode="auto">
          <a:xfrm>
            <a:off x="4440238" y="1916113"/>
            <a:ext cx="3505200" cy="990600"/>
          </a:xfrm>
          <a:prstGeom prst="curvedDownArrow">
            <a:avLst>
              <a:gd name="adj1" fmla="val 70769"/>
              <a:gd name="adj2" fmla="val 141538"/>
              <a:gd name="adj3" fmla="val 33333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v-SE" altLang="sv-SE" sz="2400"/>
          </a:p>
        </p:txBody>
      </p:sp>
    </p:spTree>
    <p:extLst>
      <p:ext uri="{BB962C8B-B14F-4D97-AF65-F5344CB8AC3E}">
        <p14:creationId xmlns:p14="http://schemas.microsoft.com/office/powerpoint/2010/main" val="506825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ChangeArrowheads="1"/>
          </p:cNvSpPr>
          <p:nvPr/>
        </p:nvSpPr>
        <p:spPr bwMode="auto"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sv-SE" sz="4000"/>
              <a:t>Study area: Androy, southern Madagascar</a:t>
            </a:r>
          </a:p>
        </p:txBody>
      </p:sp>
      <p:graphicFrame>
        <p:nvGraphicFramePr>
          <p:cNvPr id="64515" name="Object 3"/>
          <p:cNvGraphicFramePr>
            <a:graphicFrameLocks noChangeAspect="1"/>
          </p:cNvGraphicFramePr>
          <p:nvPr/>
        </p:nvGraphicFramePr>
        <p:xfrm>
          <a:off x="1981200" y="1890713"/>
          <a:ext cx="8229600" cy="394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Bitmap Image" r:id="rId4" imgW="4552381" imgH="2180952" progId="Paint.Picture">
                  <p:embed/>
                </p:oleObj>
              </mc:Choice>
              <mc:Fallback>
                <p:oleObj name="Bitmap Image" r:id="rId4" imgW="4552381" imgH="2180952" progId="Paint.Picture">
                  <p:embed/>
                  <p:pic>
                    <p:nvPicPr>
                      <p:cNvPr id="645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890713"/>
                        <a:ext cx="8229600" cy="394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6456363" y="6021389"/>
            <a:ext cx="39608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v-SE" sz="1200">
                <a:solidFill>
                  <a:schemeClr val="bg1"/>
                </a:solidFill>
                <a:latin typeface="Times New Roman" panose="02020603050405020304" pitchFamily="18" charset="0"/>
              </a:rPr>
              <a:t>The value of small size: loss of forest patches and threshold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v-SE" sz="1200">
                <a:solidFill>
                  <a:schemeClr val="bg1"/>
                </a:solidFill>
                <a:latin typeface="Times New Roman" panose="02020603050405020304" pitchFamily="18" charset="0"/>
              </a:rPr>
              <a:t>effects on ecosystem services in southern Madagascar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v-SE" sz="1200">
                <a:solidFill>
                  <a:schemeClr val="bg1"/>
                </a:solidFill>
                <a:latin typeface="Times New Roman" panose="02020603050405020304" pitchFamily="18" charset="0"/>
              </a:rPr>
              <a:t>Bodin </a:t>
            </a:r>
            <a:r>
              <a:rPr lang="en-US" altLang="sv-SE" sz="1200" i="1">
                <a:solidFill>
                  <a:schemeClr val="bg1"/>
                </a:solidFill>
                <a:latin typeface="Times New Roman" panose="02020603050405020304" pitchFamily="18" charset="0"/>
              </a:rPr>
              <a:t>et al</a:t>
            </a:r>
            <a:r>
              <a:rPr lang="en-US" altLang="sv-SE" sz="1200">
                <a:solidFill>
                  <a:schemeClr val="bg1"/>
                </a:solidFill>
                <a:latin typeface="Times New Roman" panose="02020603050405020304" pitchFamily="18" charset="0"/>
              </a:rPr>
              <a:t>, Ecological Applications 16(2)</a:t>
            </a:r>
          </a:p>
        </p:txBody>
      </p:sp>
    </p:spTree>
    <p:extLst>
      <p:ext uri="{BB962C8B-B14F-4D97-AF65-F5344CB8AC3E}">
        <p14:creationId xmlns:p14="http://schemas.microsoft.com/office/powerpoint/2010/main" val="3813493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i="1"/>
          </a:p>
          <a:p>
            <a:pPr lvl="1" eaLnBrk="1" hangingPunct="1">
              <a:defRPr/>
            </a:pPr>
            <a:r>
              <a:rPr lang="en-US"/>
              <a:t>Lives in the forest patches, but can traverse the matrix</a:t>
            </a:r>
          </a:p>
          <a:p>
            <a:pPr lvl="1" eaLnBrk="1" hangingPunct="1">
              <a:defRPr/>
            </a:pPr>
            <a:r>
              <a:rPr lang="en-US"/>
              <a:t>Are the sole disperser for many plant species</a:t>
            </a:r>
          </a:p>
        </p:txBody>
      </p:sp>
      <p:pic>
        <p:nvPicPr>
          <p:cNvPr id="66563" name="Picture 3" descr="Lemur catta_colour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27800" y="1557338"/>
            <a:ext cx="3086100" cy="4114800"/>
          </a:xfrm>
        </p:spPr>
      </p:pic>
      <p:sp>
        <p:nvSpPr>
          <p:cNvPr id="18944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cs typeface="+mj-cs"/>
              </a:rPr>
              <a:t>Seed dispersal by </a:t>
            </a:r>
            <a:r>
              <a:rPr lang="en-US" i="1" smtClean="0">
                <a:cs typeface="+mj-cs"/>
              </a:rPr>
              <a:t>Lemur catta</a:t>
            </a:r>
          </a:p>
        </p:txBody>
      </p:sp>
    </p:spTree>
    <p:extLst>
      <p:ext uri="{BB962C8B-B14F-4D97-AF65-F5344CB8AC3E}">
        <p14:creationId xmlns:p14="http://schemas.microsoft.com/office/powerpoint/2010/main" val="2097515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ChangeArrowheads="1"/>
          </p:cNvSpPr>
          <p:nvPr/>
        </p:nvSpPr>
        <p:spPr bwMode="auto">
          <a:xfrm>
            <a:off x="3143250" y="3500438"/>
            <a:ext cx="6635750" cy="2620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sv-SE" sz="2000"/>
              <a:t>Agricultural landscape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sv-SE" sz="2000"/>
              <a:t>Many small distinct (sacred) forest patches scattered in the landscape (&lt;1 to 95 ha)</a:t>
            </a:r>
          </a:p>
          <a:p>
            <a:pPr eaLnBrk="1" hangingPunct="1">
              <a:lnSpc>
                <a:spcPct val="80000"/>
              </a:lnSpc>
            </a:pPr>
            <a:endParaRPr lang="en-US" altLang="sv-SE" sz="2000"/>
          </a:p>
        </p:txBody>
      </p:sp>
      <p:graphicFrame>
        <p:nvGraphicFramePr>
          <p:cNvPr id="68611" name="Object 3"/>
          <p:cNvGraphicFramePr>
            <a:graphicFrameLocks noChangeAspect="1"/>
          </p:cNvGraphicFramePr>
          <p:nvPr/>
        </p:nvGraphicFramePr>
        <p:xfrm>
          <a:off x="3287714" y="836613"/>
          <a:ext cx="5832475" cy="252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Bitmap Image" r:id="rId4" imgW="2247619" imgH="971686" progId="Paint.Picture">
                  <p:embed/>
                </p:oleObj>
              </mc:Choice>
              <mc:Fallback>
                <p:oleObj name="Bitmap Image" r:id="rId4" imgW="2247619" imgH="971686" progId="Paint.Picture">
                  <p:embed/>
                  <p:pic>
                    <p:nvPicPr>
                      <p:cNvPr id="686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4" y="836613"/>
                        <a:ext cx="5832475" cy="2520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2813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ChangeArrowheads="1"/>
          </p:cNvSpPr>
          <p:nvPr/>
        </p:nvSpPr>
        <p:spPr bwMode="auto"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indent="723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sv-SE" sz="4400">
                <a:solidFill>
                  <a:schemeClr val="tx2"/>
                </a:solidFill>
              </a:rPr>
              <a:t>Landsat image – southern Madagascar</a:t>
            </a:r>
          </a:p>
        </p:txBody>
      </p:sp>
      <p:pic>
        <p:nvPicPr>
          <p:cNvPr id="70659" name="Picture 3" descr="slutbil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1" y="1600200"/>
            <a:ext cx="7123113" cy="420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0524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8213" y="333375"/>
            <a:ext cx="7772400" cy="1143000"/>
          </a:xfrm>
        </p:spPr>
        <p:txBody>
          <a:bodyPr/>
          <a:lstStyle/>
          <a:p>
            <a:pPr indent="723900">
              <a:defRPr/>
            </a:pPr>
            <a:r>
              <a:rPr lang="en-US" sz="4000"/>
              <a:t>Maximum movement = 500m</a:t>
            </a:r>
          </a:p>
        </p:txBody>
      </p:sp>
      <p:pic>
        <p:nvPicPr>
          <p:cNvPr id="72707" name="Picture 3" descr="Net_1ha_500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1" y="1600200"/>
            <a:ext cx="7123113" cy="420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5182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2" descr="Net_1ha_1000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1" y="1600200"/>
            <a:ext cx="7123113" cy="420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1" name="Rectangle 3"/>
          <p:cNvSpPr>
            <a:spLocks noGrp="1" noChangeArrowheads="1"/>
          </p:cNvSpPr>
          <p:nvPr>
            <p:ph type="title"/>
          </p:nvPr>
        </p:nvSpPr>
        <p:spPr>
          <a:xfrm>
            <a:off x="2208213" y="333375"/>
            <a:ext cx="7772400" cy="1143000"/>
          </a:xfrm>
        </p:spPr>
        <p:txBody>
          <a:bodyPr>
            <a:normAutofit fontScale="90000"/>
          </a:bodyPr>
          <a:lstStyle/>
          <a:p>
            <a:pPr indent="723900">
              <a:defRPr/>
            </a:pPr>
            <a:r>
              <a:rPr lang="en-US" sz="4000"/>
              <a:t>Maximum movement = 1000m (</a:t>
            </a:r>
            <a:r>
              <a:rPr lang="en-US" sz="4000">
                <a:cs typeface="Times New Roman" charset="0"/>
              </a:rPr>
              <a:t>~</a:t>
            </a:r>
            <a:r>
              <a:rPr lang="en-US" sz="4000"/>
              <a:t>Lemur catta)</a:t>
            </a:r>
          </a:p>
        </p:txBody>
      </p:sp>
    </p:spTree>
    <p:extLst>
      <p:ext uri="{BB962C8B-B14F-4D97-AF65-F5344CB8AC3E}">
        <p14:creationId xmlns:p14="http://schemas.microsoft.com/office/powerpoint/2010/main" val="120173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But </a:t>
            </a:r>
            <a:r>
              <a:rPr lang="en-US" dirty="0" smtClean="0"/>
              <a:t>governing fragmented landscapes involve </a:t>
            </a:r>
            <a:r>
              <a:rPr lang="en-US" dirty="0" smtClean="0"/>
              <a:t>more than just </a:t>
            </a:r>
            <a:r>
              <a:rPr lang="en-US" dirty="0" smtClean="0"/>
              <a:t>preserving habitat patches…</a:t>
            </a:r>
            <a:endParaRPr lang="sv-SE" dirty="0"/>
          </a:p>
        </p:txBody>
      </p:sp>
      <p:sp>
        <p:nvSpPr>
          <p:cNvPr id="4" name="Rectangle 3"/>
          <p:cNvSpPr/>
          <p:nvPr/>
        </p:nvSpPr>
        <p:spPr>
          <a:xfrm>
            <a:off x="6096000" y="6156541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Bodin Ö, Alexander SM, Baggio J, et al (2019) Improving network approaches to the study of complex social–ecological interdependencies. </a:t>
            </a:r>
            <a:r>
              <a:rPr lang="en-US" sz="1200" i="1" dirty="0"/>
              <a:t>Nature Sustainability </a:t>
            </a:r>
            <a:r>
              <a:rPr lang="en-US" sz="1200" dirty="0"/>
              <a:t>2:551–559. </a:t>
            </a:r>
            <a:endParaRPr lang="sv-SE" sz="1200" dirty="0"/>
          </a:p>
        </p:txBody>
      </p:sp>
      <p:sp>
        <p:nvSpPr>
          <p:cNvPr id="5" name="Rectangle 4"/>
          <p:cNvSpPr/>
          <p:nvPr/>
        </p:nvSpPr>
        <p:spPr bwMode="auto">
          <a:xfrm>
            <a:off x="2230872" y="4941456"/>
            <a:ext cx="8437129" cy="127165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Times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502" y="1846840"/>
            <a:ext cx="3869027" cy="416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99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058040" y="674208"/>
            <a:ext cx="8229600" cy="1143000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 </a:t>
            </a:r>
            <a:r>
              <a:rPr lang="en-US" dirty="0" smtClean="0"/>
              <a:t>multilevel network </a:t>
            </a:r>
            <a:r>
              <a:rPr lang="en-US" dirty="0"/>
              <a:t>model that makes </a:t>
            </a:r>
            <a:r>
              <a:rPr lang="en-US" dirty="0" smtClean="0"/>
              <a:t>interdisciplinary </a:t>
            </a:r>
            <a:r>
              <a:rPr lang="en-US" dirty="0"/>
              <a:t>analyses possible</a:t>
            </a:r>
          </a:p>
        </p:txBody>
      </p:sp>
      <p:sp>
        <p:nvSpPr>
          <p:cNvPr id="4" name="TextBox 7"/>
          <p:cNvSpPr txBox="1">
            <a:spLocks noChangeArrowheads="1"/>
          </p:cNvSpPr>
          <p:nvPr/>
        </p:nvSpPr>
        <p:spPr bwMode="auto">
          <a:xfrm>
            <a:off x="7630165" y="6353414"/>
            <a:ext cx="531495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000" dirty="0">
                <a:latin typeface="Verdana" pitchFamily="34" charset="0"/>
              </a:rPr>
              <a:t>Bodin et al. 2020, </a:t>
            </a:r>
            <a:r>
              <a:rPr lang="en-US" sz="1000" i="1" dirty="0">
                <a:latin typeface="Verdana" pitchFamily="34" charset="0"/>
              </a:rPr>
              <a:t>Annual Review of </a:t>
            </a:r>
          </a:p>
          <a:p>
            <a:r>
              <a:rPr lang="en-US" sz="1000" i="1" dirty="0">
                <a:latin typeface="Verdana" pitchFamily="34" charset="0"/>
              </a:rPr>
              <a:t>Environment and Resources</a:t>
            </a:r>
            <a:endParaRPr lang="en-US" sz="1000" i="1" dirty="0">
              <a:latin typeface="Verdana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238" y="2379092"/>
            <a:ext cx="8391525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04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social-ecological networks?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Environmental problems are just as much </a:t>
            </a:r>
            <a:r>
              <a:rPr lang="en-US" dirty="0" smtClean="0"/>
              <a:t>social-ecological </a:t>
            </a:r>
            <a:r>
              <a:rPr lang="en-US" dirty="0" smtClean="0"/>
              <a:t>problems</a:t>
            </a:r>
          </a:p>
          <a:p>
            <a:r>
              <a:rPr lang="en-US" dirty="0" smtClean="0"/>
              <a:t>The environment is a “networked” ecosystem</a:t>
            </a:r>
          </a:p>
          <a:p>
            <a:r>
              <a:rPr lang="en-SE" dirty="0" smtClean="0"/>
              <a:t>…</a:t>
            </a:r>
            <a:r>
              <a:rPr lang="en-US" dirty="0" smtClean="0"/>
              <a:t>and the social “system” consists of many actors/institutions/etc.</a:t>
            </a:r>
            <a:endParaRPr lang="en-US" dirty="0" smtClean="0"/>
          </a:p>
          <a:p>
            <a:r>
              <a:rPr lang="en-US" dirty="0" smtClean="0"/>
              <a:t>=&gt; </a:t>
            </a:r>
            <a:r>
              <a:rPr lang="en-US" dirty="0" smtClean="0"/>
              <a:t>No single actor in charge, nor able to deal with all </a:t>
            </a:r>
            <a:r>
              <a:rPr lang="en-US" dirty="0" smtClean="0"/>
              <a:t>ecosystem components </a:t>
            </a:r>
            <a:r>
              <a:rPr lang="en-US" dirty="0" smtClean="0"/>
              <a:t>him/herself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403473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514783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What is a “useful” network representation of a social-ecological system?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3564" y="2098965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1. Start with the human/nature interaction of interest (extracting fish, enjoying scenery)</a:t>
            </a:r>
          </a:p>
          <a:p>
            <a:r>
              <a:rPr lang="en-US" dirty="0" smtClean="0"/>
              <a:t>2. What might be influencing the “actors” determining how they will interact with nature (fish more, change gear, go somewhere else)</a:t>
            </a:r>
          </a:p>
          <a:p>
            <a:pPr lvl="1"/>
            <a:r>
              <a:rPr lang="en-US" dirty="0" smtClean="0"/>
              <a:t>Social </a:t>
            </a:r>
            <a:r>
              <a:rPr lang="en-US" dirty="0" smtClean="0"/>
              <a:t>influence among peers, </a:t>
            </a:r>
            <a:r>
              <a:rPr lang="en-US" dirty="0" smtClean="0"/>
              <a:t>negotiating agreement on regulating extraction..</a:t>
            </a:r>
          </a:p>
          <a:p>
            <a:r>
              <a:rPr lang="en-US" dirty="0" smtClean="0"/>
              <a:t>3. What kind of ecological interdependencies are relevant given the type of human/nature interaction?</a:t>
            </a:r>
          </a:p>
          <a:p>
            <a:pPr lvl="1"/>
            <a:r>
              <a:rPr lang="en-US" dirty="0" smtClean="0"/>
              <a:t>If fishing, food web dynamics, fish migration, </a:t>
            </a:r>
            <a:r>
              <a:rPr lang="en-US" dirty="0" smtClean="0"/>
              <a:t>…</a:t>
            </a:r>
          </a:p>
          <a:p>
            <a:r>
              <a:rPr lang="en-US" dirty="0" smtClean="0"/>
              <a:t>4. “</a:t>
            </a:r>
            <a:r>
              <a:rPr lang="en-US" dirty="0"/>
              <a:t>S</a:t>
            </a:r>
            <a:r>
              <a:rPr lang="en-US" dirty="0" smtClean="0"/>
              <a:t>cale matching”, all nodes and links should be able to significantly affect each other</a:t>
            </a:r>
          </a:p>
          <a:p>
            <a:pPr lvl="1"/>
            <a:r>
              <a:rPr lang="en-US" dirty="0" smtClean="0"/>
              <a:t>Can a single fishermen alter the state of a local fish population, or is a entire fishing fleet only able to do so?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158306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Fishery example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Interaction: small scale fishing in coastal region</a:t>
            </a:r>
          </a:p>
          <a:p>
            <a:r>
              <a:rPr lang="en-US" dirty="0" smtClean="0"/>
              <a:t>Social entity (actor): Perhaps groups of fishermen using the same gear type?</a:t>
            </a:r>
          </a:p>
          <a:p>
            <a:r>
              <a:rPr lang="en-US" dirty="0" smtClean="0"/>
              <a:t>Social interaction of relevance for what fishers do: sharing knowledge related to fishing, where to fish, what to fish, what not to fish…</a:t>
            </a:r>
          </a:p>
          <a:p>
            <a:pPr lvl="1"/>
            <a:r>
              <a:rPr lang="en-US" dirty="0"/>
              <a:t>Alexander SM, Staniczenko PPA, Bodin Ö (2020) Social ties explain catch portfolios of small‐scale fishers in the Caribbean. </a:t>
            </a:r>
            <a:r>
              <a:rPr lang="en-US" dirty="0" smtClean="0"/>
              <a:t>Fish &amp; Fisheries </a:t>
            </a:r>
            <a:r>
              <a:rPr lang="en-US" dirty="0"/>
              <a:t>21:120–131. </a:t>
            </a:r>
            <a:endParaRPr lang="en-US" dirty="0" smtClean="0"/>
          </a:p>
          <a:p>
            <a:r>
              <a:rPr lang="en-US" dirty="0" smtClean="0"/>
              <a:t>Ecological interactions: food </a:t>
            </a:r>
            <a:r>
              <a:rPr lang="en-US" dirty="0" smtClean="0"/>
              <a:t>web interactions, </a:t>
            </a:r>
            <a:r>
              <a:rPr lang="en-US" dirty="0" smtClean="0"/>
              <a:t>who eat whom?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9513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Kenyan small scale fishery</a:t>
            </a:r>
            <a:endParaRPr lang="sv-SE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/>
          <a:srcRect l="-19722" r="-19722"/>
          <a:stretch>
            <a:fillRect/>
          </a:stretch>
        </p:blipFill>
        <p:spPr>
          <a:xfrm>
            <a:off x="1286647" y="1485106"/>
            <a:ext cx="9187391" cy="43497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04264" y="6125978"/>
            <a:ext cx="720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Bodin et al (2014). </a:t>
            </a:r>
            <a:r>
              <a:rPr lang="en-US" sz="1600" dirty="0"/>
              <a:t>Conservation Success as a Function of Good Alignment of Social and Ecological Structures and Processes</a:t>
            </a:r>
            <a:r>
              <a:rPr lang="en-AU" sz="1600" dirty="0"/>
              <a:t>. </a:t>
            </a:r>
            <a:r>
              <a:rPr lang="en-AU" sz="1600" i="1" dirty="0"/>
              <a:t>Conservation Biology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662868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</a:t>
            </a:r>
            <a:r>
              <a:rPr lang="en-SE" dirty="0" smtClean="0"/>
              <a:t>–</a:t>
            </a:r>
            <a:r>
              <a:rPr lang="en-US" dirty="0" smtClean="0"/>
              <a:t> build your own social-ecological network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Follow steps 1-4 (often several iterations are needed)</a:t>
            </a:r>
          </a:p>
          <a:p>
            <a:r>
              <a:rPr lang="en-US" dirty="0" smtClean="0"/>
              <a:t>Work in groups of 3-4</a:t>
            </a:r>
          </a:p>
          <a:p>
            <a:r>
              <a:rPr lang="en-US" dirty="0" smtClean="0"/>
              <a:t>Choose a “model system”</a:t>
            </a:r>
          </a:p>
          <a:p>
            <a:r>
              <a:rPr lang="en-US" dirty="0" smtClean="0"/>
              <a:t>This is an exercise, thus use your own assumptions (guesses) about the model system (no need to know all the facts about the model system)</a:t>
            </a:r>
          </a:p>
          <a:p>
            <a:r>
              <a:rPr lang="en-US" dirty="0" smtClean="0"/>
              <a:t>You NEED to simply the system, modeling is all about reducing complexity (but not too much, and not too little </a:t>
            </a:r>
            <a:r>
              <a:rPr lang="en-SE" dirty="0" smtClean="0"/>
              <a:t>–</a:t>
            </a:r>
            <a:r>
              <a:rPr lang="en-US" dirty="0" smtClean="0"/>
              <a:t> just enough)</a:t>
            </a:r>
          </a:p>
          <a:p>
            <a:r>
              <a:rPr lang="en-US" dirty="0" smtClean="0"/>
              <a:t>Be ready to quickly present your social-ecological network at the end of the exercise</a:t>
            </a:r>
          </a:p>
          <a:p>
            <a:pPr lvl="1"/>
            <a:r>
              <a:rPr lang="en-US" dirty="0" smtClean="0"/>
              <a:t>Justify your choices of nodes and links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557309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systems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Tuna fish is dispersed across the globe, and migrate between different locations</a:t>
            </a:r>
            <a:r>
              <a:rPr lang="sv-SE" dirty="0" smtClean="0"/>
              <a:t>. </a:t>
            </a:r>
            <a:r>
              <a:rPr lang="sv-SE" dirty="0" err="1" smtClean="0"/>
              <a:t>Many</a:t>
            </a:r>
            <a:r>
              <a:rPr lang="sv-SE" dirty="0" smtClean="0"/>
              <a:t> </a:t>
            </a:r>
            <a:r>
              <a:rPr lang="sv-SE" dirty="0" err="1" smtClean="0"/>
              <a:t>countries</a:t>
            </a:r>
            <a:r>
              <a:rPr lang="sv-SE" dirty="0" smtClean="0"/>
              <a:t> </a:t>
            </a:r>
            <a:r>
              <a:rPr lang="sv-SE" dirty="0" err="1" smtClean="0"/>
              <a:t>have</a:t>
            </a:r>
            <a:r>
              <a:rPr lang="sv-SE" dirty="0" smtClean="0"/>
              <a:t> </a:t>
            </a:r>
            <a:r>
              <a:rPr lang="sv-SE" dirty="0" err="1" smtClean="0"/>
              <a:t>fishing</a:t>
            </a:r>
            <a:r>
              <a:rPr lang="sv-SE" dirty="0" smtClean="0"/>
              <a:t> </a:t>
            </a:r>
            <a:r>
              <a:rPr lang="sv-SE" dirty="0" err="1" smtClean="0"/>
              <a:t>fleets</a:t>
            </a:r>
            <a:r>
              <a:rPr lang="sv-SE" dirty="0" smtClean="0"/>
              <a:t> going </a:t>
            </a:r>
            <a:r>
              <a:rPr lang="sv-SE" dirty="0" err="1" smtClean="0"/>
              <a:t>after</a:t>
            </a:r>
            <a:r>
              <a:rPr lang="sv-SE" dirty="0" smtClean="0"/>
              <a:t> the Tuna. </a:t>
            </a:r>
          </a:p>
          <a:p>
            <a:r>
              <a:rPr lang="en-US" dirty="0" smtClean="0"/>
              <a:t>Precipitation does now acknowledge human defined borders. Evapotranspiration in one country/region comes down as rainfall in other regions. Land use alteration change evapotranspiration (e.g. clear cutting forests could negatively effect </a:t>
            </a:r>
            <a:r>
              <a:rPr lang="en-US" dirty="0" smtClean="0"/>
              <a:t>evapotranspiration).</a:t>
            </a:r>
          </a:p>
          <a:p>
            <a:r>
              <a:rPr lang="en-US" dirty="0" smtClean="0"/>
              <a:t>Industrial pollution follows the water streams, and affect downstream water quality.</a:t>
            </a:r>
          </a:p>
          <a:p>
            <a:r>
              <a:rPr lang="en-US" dirty="0" smtClean="0"/>
              <a:t>Green areas in urban settings provide many ecosystem services (recreation, biodiversity, local climate regulation such as cooling, ..). But if ecologically isolated, they might decline over time.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731655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730</Words>
  <Application>Microsoft Office PowerPoint</Application>
  <PresentationFormat>Widescreen</PresentationFormat>
  <Paragraphs>71</Paragraphs>
  <Slides>18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ＭＳ Ｐゴシック</vt:lpstr>
      <vt:lpstr>Arial</vt:lpstr>
      <vt:lpstr>Calibri</vt:lpstr>
      <vt:lpstr>Calibri Light</vt:lpstr>
      <vt:lpstr>Times</vt:lpstr>
      <vt:lpstr>Times New Roman</vt:lpstr>
      <vt:lpstr>Verdana</vt:lpstr>
      <vt:lpstr>Office Theme</vt:lpstr>
      <vt:lpstr>Bitmap Image</vt:lpstr>
      <vt:lpstr>Block II</vt:lpstr>
      <vt:lpstr>Ecological networks – an example</vt:lpstr>
      <vt:lpstr>Graph/network approach</vt:lpstr>
      <vt:lpstr>An example</vt:lpstr>
      <vt:lpstr>PowerPoint Presentation</vt:lpstr>
      <vt:lpstr>Seed dispersal by Lemur catta</vt:lpstr>
      <vt:lpstr>PowerPoint Presentation</vt:lpstr>
      <vt:lpstr>PowerPoint Presentation</vt:lpstr>
      <vt:lpstr>Maximum movement = 500m</vt:lpstr>
      <vt:lpstr>Maximum movement = 1000m (~Lemur catta)</vt:lpstr>
      <vt:lpstr>But governing fragmented landscapes involve more than just preserving habitat patches…</vt:lpstr>
      <vt:lpstr>PowerPoint Presentation</vt:lpstr>
      <vt:lpstr>Why social-ecological networks?</vt:lpstr>
      <vt:lpstr>What is a “useful” network representation of a social-ecological system?</vt:lpstr>
      <vt:lpstr>Fishery example</vt:lpstr>
      <vt:lpstr>Kenyan small scale fishery</vt:lpstr>
      <vt:lpstr>Exercise – build your own social-ecological network</vt:lpstr>
      <vt:lpstr>Model systems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 II</dc:title>
  <dc:creator>Örjan Bodin</dc:creator>
  <cp:lastModifiedBy>Örjan Bodin</cp:lastModifiedBy>
  <cp:revision>7</cp:revision>
  <dcterms:created xsi:type="dcterms:W3CDTF">2022-04-20T07:19:40Z</dcterms:created>
  <dcterms:modified xsi:type="dcterms:W3CDTF">2022-04-20T08:22:15Z</dcterms:modified>
</cp:coreProperties>
</file>